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6" r:id="rId1"/>
  </p:sldMasterIdLst>
  <p:notesMasterIdLst>
    <p:notesMasterId r:id="rId17"/>
  </p:notesMasterIdLst>
  <p:sldIdLst>
    <p:sldId id="261" r:id="rId2"/>
    <p:sldId id="271" r:id="rId3"/>
    <p:sldId id="277" r:id="rId4"/>
    <p:sldId id="278" r:id="rId5"/>
    <p:sldId id="289" r:id="rId6"/>
    <p:sldId id="290" r:id="rId7"/>
    <p:sldId id="294" r:id="rId8"/>
    <p:sldId id="282" r:id="rId9"/>
    <p:sldId id="283" r:id="rId10"/>
    <p:sldId id="291" r:id="rId11"/>
    <p:sldId id="293" r:id="rId12"/>
    <p:sldId id="292" r:id="rId13"/>
    <p:sldId id="295" r:id="rId14"/>
    <p:sldId id="286" r:id="rId15"/>
    <p:sldId id="28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79" d="100"/>
          <a:sy n="79" d="100"/>
        </p:scale>
        <p:origin x="68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08705E-7C80-4BE2-ABC3-B9B7A09F14A1}"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IN"/>
        </a:p>
      </dgm:t>
    </dgm:pt>
    <dgm:pt modelId="{C430D55A-3BAA-4E43-A1DA-FE12C7F32609}">
      <dgm:prSet/>
      <dgm:spPr/>
      <dgm:t>
        <a:bodyPr/>
        <a:lstStyle/>
        <a:p>
          <a:r>
            <a:rPr lang="en-US" dirty="0"/>
            <a:t>To provide ML-based, personalized crop recommendations considering environmental.</a:t>
          </a:r>
          <a:endParaRPr lang="en-IN" dirty="0"/>
        </a:p>
      </dgm:t>
    </dgm:pt>
    <dgm:pt modelId="{915FFBFA-F2DD-48E5-A80B-0414E85487FD}" type="parTrans" cxnId="{786F7377-A479-491F-8A24-95811E4B861B}">
      <dgm:prSet/>
      <dgm:spPr/>
      <dgm:t>
        <a:bodyPr/>
        <a:lstStyle/>
        <a:p>
          <a:endParaRPr lang="en-IN"/>
        </a:p>
      </dgm:t>
    </dgm:pt>
    <dgm:pt modelId="{F55C0557-209A-4D74-BDA1-53B5E384920C}" type="sibTrans" cxnId="{786F7377-A479-491F-8A24-95811E4B861B}">
      <dgm:prSet/>
      <dgm:spPr/>
      <dgm:t>
        <a:bodyPr/>
        <a:lstStyle/>
        <a:p>
          <a:endParaRPr lang="en-IN"/>
        </a:p>
      </dgm:t>
    </dgm:pt>
    <dgm:pt modelId="{7CB90494-9C3B-4139-9134-CF41D59949F0}">
      <dgm:prSet/>
      <dgm:spPr/>
      <dgm:t>
        <a:bodyPr/>
        <a:lstStyle/>
        <a:p>
          <a:r>
            <a:rPr lang="en-US"/>
            <a:t>To facilitate trusted knowledge sharing among farmers using reputation and expert inputs.</a:t>
          </a:r>
          <a:endParaRPr lang="en-IN"/>
        </a:p>
      </dgm:t>
    </dgm:pt>
    <dgm:pt modelId="{73DF8E71-F6C4-416A-AB7C-8F7608E7D1CC}" type="parTrans" cxnId="{630F1A8F-2677-4242-B79B-77D93CAE56C4}">
      <dgm:prSet/>
      <dgm:spPr/>
      <dgm:t>
        <a:bodyPr/>
        <a:lstStyle/>
        <a:p>
          <a:endParaRPr lang="en-IN"/>
        </a:p>
      </dgm:t>
    </dgm:pt>
    <dgm:pt modelId="{7782F8D7-D1AB-4020-AA3E-0EFFD563A833}" type="sibTrans" cxnId="{630F1A8F-2677-4242-B79B-77D93CAE56C4}">
      <dgm:prSet/>
      <dgm:spPr/>
      <dgm:t>
        <a:bodyPr/>
        <a:lstStyle/>
        <a:p>
          <a:endParaRPr lang="en-IN"/>
        </a:p>
      </dgm:t>
    </dgm:pt>
    <dgm:pt modelId="{4866411F-45EC-43C4-A6CE-7BF229106D72}">
      <dgm:prSet/>
      <dgm:spPr/>
      <dgm:t>
        <a:bodyPr/>
        <a:lstStyle/>
        <a:p>
          <a:r>
            <a:rPr lang="en-US"/>
            <a:t>To simplify and automate matching with suitable government schemes for farmers.</a:t>
          </a:r>
          <a:endParaRPr lang="en-IN"/>
        </a:p>
      </dgm:t>
    </dgm:pt>
    <dgm:pt modelId="{9A62FB44-E655-431A-86B7-42C780B79976}" type="parTrans" cxnId="{91427094-D246-45D3-8AF0-10873852F038}">
      <dgm:prSet/>
      <dgm:spPr/>
      <dgm:t>
        <a:bodyPr/>
        <a:lstStyle/>
        <a:p>
          <a:endParaRPr lang="en-IN"/>
        </a:p>
      </dgm:t>
    </dgm:pt>
    <dgm:pt modelId="{3BB77E0D-796D-45C0-9684-320E04392621}" type="sibTrans" cxnId="{91427094-D246-45D3-8AF0-10873852F038}">
      <dgm:prSet/>
      <dgm:spPr/>
      <dgm:t>
        <a:bodyPr/>
        <a:lstStyle/>
        <a:p>
          <a:endParaRPr lang="en-IN"/>
        </a:p>
      </dgm:t>
    </dgm:pt>
    <dgm:pt modelId="{E497F846-657F-4E9B-889A-F59E0F77C17D}">
      <dgm:prSet/>
      <dgm:spPr/>
      <dgm:t>
        <a:bodyPr/>
        <a:lstStyle/>
        <a:p>
          <a:r>
            <a:rPr lang="en-US"/>
            <a:t>To improve farmer awareness, decision-making, and ease of access to support using a unified digital solution.</a:t>
          </a:r>
          <a:endParaRPr lang="en-IN"/>
        </a:p>
      </dgm:t>
    </dgm:pt>
    <dgm:pt modelId="{4C984A01-FFDE-406D-ACBE-6F6F51912C7B}" type="parTrans" cxnId="{61680E1A-E1FF-4B97-AA74-07E510A0D499}">
      <dgm:prSet/>
      <dgm:spPr/>
      <dgm:t>
        <a:bodyPr/>
        <a:lstStyle/>
        <a:p>
          <a:endParaRPr lang="en-IN"/>
        </a:p>
      </dgm:t>
    </dgm:pt>
    <dgm:pt modelId="{5697223D-4CBA-4FC2-8432-01A42DD986E3}" type="sibTrans" cxnId="{61680E1A-E1FF-4B97-AA74-07E510A0D499}">
      <dgm:prSet/>
      <dgm:spPr/>
      <dgm:t>
        <a:bodyPr/>
        <a:lstStyle/>
        <a:p>
          <a:endParaRPr lang="en-IN"/>
        </a:p>
      </dgm:t>
    </dgm:pt>
    <dgm:pt modelId="{CF2230BD-41B3-46C6-8DC0-B2952811E032}" type="pres">
      <dgm:prSet presAssocID="{3C08705E-7C80-4BE2-ABC3-B9B7A09F14A1}" presName="matrix" presStyleCnt="0">
        <dgm:presLayoutVars>
          <dgm:chMax val="1"/>
          <dgm:dir/>
          <dgm:resizeHandles val="exact"/>
        </dgm:presLayoutVars>
      </dgm:prSet>
      <dgm:spPr/>
    </dgm:pt>
    <dgm:pt modelId="{D7EFCD09-11CB-434A-AFCD-101DFCEFCA86}" type="pres">
      <dgm:prSet presAssocID="{3C08705E-7C80-4BE2-ABC3-B9B7A09F14A1}" presName="diamond" presStyleLbl="bgShp" presStyleIdx="0" presStyleCnt="1"/>
      <dgm:spPr/>
    </dgm:pt>
    <dgm:pt modelId="{AD6F44BE-16A3-439D-B424-AB057CE07A3D}" type="pres">
      <dgm:prSet presAssocID="{3C08705E-7C80-4BE2-ABC3-B9B7A09F14A1}" presName="quad1" presStyleLbl="node1" presStyleIdx="0" presStyleCnt="4">
        <dgm:presLayoutVars>
          <dgm:chMax val="0"/>
          <dgm:chPref val="0"/>
          <dgm:bulletEnabled val="1"/>
        </dgm:presLayoutVars>
      </dgm:prSet>
      <dgm:spPr/>
    </dgm:pt>
    <dgm:pt modelId="{BFF6A1FE-2180-4D4D-B025-5AEEBFFCCA4E}" type="pres">
      <dgm:prSet presAssocID="{3C08705E-7C80-4BE2-ABC3-B9B7A09F14A1}" presName="quad2" presStyleLbl="node1" presStyleIdx="1" presStyleCnt="4">
        <dgm:presLayoutVars>
          <dgm:chMax val="0"/>
          <dgm:chPref val="0"/>
          <dgm:bulletEnabled val="1"/>
        </dgm:presLayoutVars>
      </dgm:prSet>
      <dgm:spPr/>
    </dgm:pt>
    <dgm:pt modelId="{89F54BCF-8A4C-48D9-80BC-E82722D3CA2B}" type="pres">
      <dgm:prSet presAssocID="{3C08705E-7C80-4BE2-ABC3-B9B7A09F14A1}" presName="quad3" presStyleLbl="node1" presStyleIdx="2" presStyleCnt="4">
        <dgm:presLayoutVars>
          <dgm:chMax val="0"/>
          <dgm:chPref val="0"/>
          <dgm:bulletEnabled val="1"/>
        </dgm:presLayoutVars>
      </dgm:prSet>
      <dgm:spPr/>
    </dgm:pt>
    <dgm:pt modelId="{973E4B4A-3AC1-43D7-9978-861CF6307F59}" type="pres">
      <dgm:prSet presAssocID="{3C08705E-7C80-4BE2-ABC3-B9B7A09F14A1}" presName="quad4" presStyleLbl="node1" presStyleIdx="3" presStyleCnt="4">
        <dgm:presLayoutVars>
          <dgm:chMax val="0"/>
          <dgm:chPref val="0"/>
          <dgm:bulletEnabled val="1"/>
        </dgm:presLayoutVars>
      </dgm:prSet>
      <dgm:spPr/>
    </dgm:pt>
  </dgm:ptLst>
  <dgm:cxnLst>
    <dgm:cxn modelId="{61680E1A-E1FF-4B97-AA74-07E510A0D499}" srcId="{3C08705E-7C80-4BE2-ABC3-B9B7A09F14A1}" destId="{E497F846-657F-4E9B-889A-F59E0F77C17D}" srcOrd="3" destOrd="0" parTransId="{4C984A01-FFDE-406D-ACBE-6F6F51912C7B}" sibTransId="{5697223D-4CBA-4FC2-8432-01A42DD986E3}"/>
    <dgm:cxn modelId="{3FE8C947-C82E-4314-8BEE-B28B35B3FBEA}" type="presOf" srcId="{4866411F-45EC-43C4-A6CE-7BF229106D72}" destId="{89F54BCF-8A4C-48D9-80BC-E82722D3CA2B}" srcOrd="0" destOrd="0" presId="urn:microsoft.com/office/officeart/2005/8/layout/matrix3"/>
    <dgm:cxn modelId="{786F7377-A479-491F-8A24-95811E4B861B}" srcId="{3C08705E-7C80-4BE2-ABC3-B9B7A09F14A1}" destId="{C430D55A-3BAA-4E43-A1DA-FE12C7F32609}" srcOrd="0" destOrd="0" parTransId="{915FFBFA-F2DD-48E5-A80B-0414E85487FD}" sibTransId="{F55C0557-209A-4D74-BDA1-53B5E384920C}"/>
    <dgm:cxn modelId="{6F10DF89-8796-4C75-BA6E-0FB4F19A737A}" type="presOf" srcId="{C430D55A-3BAA-4E43-A1DA-FE12C7F32609}" destId="{AD6F44BE-16A3-439D-B424-AB057CE07A3D}" srcOrd="0" destOrd="0" presId="urn:microsoft.com/office/officeart/2005/8/layout/matrix3"/>
    <dgm:cxn modelId="{630F1A8F-2677-4242-B79B-77D93CAE56C4}" srcId="{3C08705E-7C80-4BE2-ABC3-B9B7A09F14A1}" destId="{7CB90494-9C3B-4139-9134-CF41D59949F0}" srcOrd="1" destOrd="0" parTransId="{73DF8E71-F6C4-416A-AB7C-8F7608E7D1CC}" sibTransId="{7782F8D7-D1AB-4020-AA3E-0EFFD563A833}"/>
    <dgm:cxn modelId="{91427094-D246-45D3-8AF0-10873852F038}" srcId="{3C08705E-7C80-4BE2-ABC3-B9B7A09F14A1}" destId="{4866411F-45EC-43C4-A6CE-7BF229106D72}" srcOrd="2" destOrd="0" parTransId="{9A62FB44-E655-431A-86B7-42C780B79976}" sibTransId="{3BB77E0D-796D-45C0-9684-320E04392621}"/>
    <dgm:cxn modelId="{5F376A9C-1D8C-49B3-9393-3872471D2275}" type="presOf" srcId="{7CB90494-9C3B-4139-9134-CF41D59949F0}" destId="{BFF6A1FE-2180-4D4D-B025-5AEEBFFCCA4E}" srcOrd="0" destOrd="0" presId="urn:microsoft.com/office/officeart/2005/8/layout/matrix3"/>
    <dgm:cxn modelId="{3D2FB6F0-4DAB-463A-8550-2DC6F0613F42}" type="presOf" srcId="{3C08705E-7C80-4BE2-ABC3-B9B7A09F14A1}" destId="{CF2230BD-41B3-46C6-8DC0-B2952811E032}" srcOrd="0" destOrd="0" presId="urn:microsoft.com/office/officeart/2005/8/layout/matrix3"/>
    <dgm:cxn modelId="{9935D0F9-1982-4408-90F8-79286B33C178}" type="presOf" srcId="{E497F846-657F-4E9B-889A-F59E0F77C17D}" destId="{973E4B4A-3AC1-43D7-9978-861CF6307F59}" srcOrd="0" destOrd="0" presId="urn:microsoft.com/office/officeart/2005/8/layout/matrix3"/>
    <dgm:cxn modelId="{21949317-C09A-4504-8BCE-F4BFB2257138}" type="presParOf" srcId="{CF2230BD-41B3-46C6-8DC0-B2952811E032}" destId="{D7EFCD09-11CB-434A-AFCD-101DFCEFCA86}" srcOrd="0" destOrd="0" presId="urn:microsoft.com/office/officeart/2005/8/layout/matrix3"/>
    <dgm:cxn modelId="{A6C007D1-08E3-4175-9D42-E32B2203F277}" type="presParOf" srcId="{CF2230BD-41B3-46C6-8DC0-B2952811E032}" destId="{AD6F44BE-16A3-439D-B424-AB057CE07A3D}" srcOrd="1" destOrd="0" presId="urn:microsoft.com/office/officeart/2005/8/layout/matrix3"/>
    <dgm:cxn modelId="{BB3C5739-E35F-46D0-9B7A-B5E2ECD86845}" type="presParOf" srcId="{CF2230BD-41B3-46C6-8DC0-B2952811E032}" destId="{BFF6A1FE-2180-4D4D-B025-5AEEBFFCCA4E}" srcOrd="2" destOrd="0" presId="urn:microsoft.com/office/officeart/2005/8/layout/matrix3"/>
    <dgm:cxn modelId="{57F891E5-D45E-4460-8341-6E989936EC79}" type="presParOf" srcId="{CF2230BD-41B3-46C6-8DC0-B2952811E032}" destId="{89F54BCF-8A4C-48D9-80BC-E82722D3CA2B}" srcOrd="3" destOrd="0" presId="urn:microsoft.com/office/officeart/2005/8/layout/matrix3"/>
    <dgm:cxn modelId="{5D4A356E-A681-49B1-9DA6-3ACB470885C8}" type="presParOf" srcId="{CF2230BD-41B3-46C6-8DC0-B2952811E032}" destId="{973E4B4A-3AC1-43D7-9978-861CF6307F59}"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EFCD09-11CB-434A-AFCD-101DFCEFCA86}">
      <dsp:nvSpPr>
        <dsp:cNvPr id="0" name=""/>
        <dsp:cNvSpPr/>
      </dsp:nvSpPr>
      <dsp:spPr>
        <a:xfrm>
          <a:off x="3401009" y="0"/>
          <a:ext cx="5075852" cy="5075852"/>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6F44BE-16A3-439D-B424-AB057CE07A3D}">
      <dsp:nvSpPr>
        <dsp:cNvPr id="0" name=""/>
        <dsp:cNvSpPr/>
      </dsp:nvSpPr>
      <dsp:spPr>
        <a:xfrm>
          <a:off x="3883214" y="482205"/>
          <a:ext cx="1979582" cy="197958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To provide ML-based, personalized crop recommendations considering environmental.</a:t>
          </a:r>
          <a:endParaRPr lang="en-IN" sz="1600" kern="1200" dirty="0"/>
        </a:p>
      </dsp:txBody>
      <dsp:txXfrm>
        <a:off x="3979849" y="578840"/>
        <a:ext cx="1786312" cy="1786312"/>
      </dsp:txXfrm>
    </dsp:sp>
    <dsp:sp modelId="{BFF6A1FE-2180-4D4D-B025-5AEEBFFCCA4E}">
      <dsp:nvSpPr>
        <dsp:cNvPr id="0" name=""/>
        <dsp:cNvSpPr/>
      </dsp:nvSpPr>
      <dsp:spPr>
        <a:xfrm>
          <a:off x="6015072" y="482205"/>
          <a:ext cx="1979582" cy="197958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To facilitate trusted knowledge sharing among farmers using reputation and expert inputs.</a:t>
          </a:r>
          <a:endParaRPr lang="en-IN" sz="1600" kern="1200"/>
        </a:p>
      </dsp:txBody>
      <dsp:txXfrm>
        <a:off x="6111707" y="578840"/>
        <a:ext cx="1786312" cy="1786312"/>
      </dsp:txXfrm>
    </dsp:sp>
    <dsp:sp modelId="{89F54BCF-8A4C-48D9-80BC-E82722D3CA2B}">
      <dsp:nvSpPr>
        <dsp:cNvPr id="0" name=""/>
        <dsp:cNvSpPr/>
      </dsp:nvSpPr>
      <dsp:spPr>
        <a:xfrm>
          <a:off x="3883214" y="2614063"/>
          <a:ext cx="1979582" cy="197958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To simplify and automate matching with suitable government schemes for farmers.</a:t>
          </a:r>
          <a:endParaRPr lang="en-IN" sz="1600" kern="1200"/>
        </a:p>
      </dsp:txBody>
      <dsp:txXfrm>
        <a:off x="3979849" y="2710698"/>
        <a:ext cx="1786312" cy="1786312"/>
      </dsp:txXfrm>
    </dsp:sp>
    <dsp:sp modelId="{973E4B4A-3AC1-43D7-9978-861CF6307F59}">
      <dsp:nvSpPr>
        <dsp:cNvPr id="0" name=""/>
        <dsp:cNvSpPr/>
      </dsp:nvSpPr>
      <dsp:spPr>
        <a:xfrm>
          <a:off x="6015072" y="2614063"/>
          <a:ext cx="1979582" cy="197958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To improve farmer awareness, decision-making, and ease of access to support using a unified digital solution.</a:t>
          </a:r>
          <a:endParaRPr lang="en-IN" sz="1600" kern="1200"/>
        </a:p>
      </dsp:txBody>
      <dsp:txXfrm>
        <a:off x="6111707" y="2710698"/>
        <a:ext cx="1786312" cy="1786312"/>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3B6CE-4736-4336-9B97-5711116D877B}" type="datetimeFigureOut">
              <a:rPr lang="en-US" smtClean="0"/>
              <a:t>2/13/2026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D085AA-93ED-4BEF-A3B7-0E4F9E9A4A9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88EC33-4272-4021-8BBD-6FEC436AE4E7}" type="datetime1">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DC133B-56CF-4BD7-AF41-F9CFD64DD942}"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612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09FBFF-520D-470F-90A1-63E712D4F2E2}" type="datetime1">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403489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112896-DA28-4E64-ADAB-2FA83B2B750A}" type="datetime1">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DC133B-56CF-4BD7-AF41-F9CFD64DD942}"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184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BBF698-F24E-48C9-A779-7273E04E2E35}" type="datetime1">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214620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33F6D7-9F14-45F5-96C3-DE053C34307F}" type="datetime1">
              <a:rPr lang="en-US" smtClean="0"/>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587231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0DCE1D6-3549-4483-91A5-CB29157750D2}" type="datetime1">
              <a:rPr lang="en-US" smtClean="0"/>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334416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7EF50A87-DAA4-4037-A442-BA90CA860B93}" type="datetime1">
              <a:rPr lang="en-US" smtClean="0"/>
              <a:t>2/13/2026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2996744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4BBF67E-3B80-47BA-A771-BBA0E25A5982}" type="datetime1">
              <a:rPr lang="en-US" smtClean="0"/>
              <a:t>2/13/2026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DDC133B-56CF-4BD7-AF41-F9CFD64DD942}" type="slidenum">
              <a:rPr lang="en-US" smtClean="0"/>
              <a:pPr/>
              <a:t>‹#›</a:t>
            </a:fld>
            <a:endParaRPr lang="en-US"/>
          </a:p>
        </p:txBody>
      </p:sp>
    </p:spTree>
    <p:extLst>
      <p:ext uri="{BB962C8B-B14F-4D97-AF65-F5344CB8AC3E}">
        <p14:creationId xmlns:p14="http://schemas.microsoft.com/office/powerpoint/2010/main" val="421114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27F6996-91C9-4B9B-874A-F80223127AF9}" type="datetime1">
              <a:rPr lang="en-US" smtClean="0"/>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1972775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F235F9-EEE0-4794-91EE-ED9ADC804804}" type="datetime1">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2778453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AB6154-D7FF-4E39-A28F-AD0E9A9DAA08}" type="datetime1">
              <a:rPr lang="en-US" smtClean="0"/>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DC133B-56CF-4BD7-AF41-F9CFD64DD942}" type="slidenum">
              <a:rPr lang="en-US" smtClean="0"/>
              <a:pPr/>
              <a:t>‹#›</a:t>
            </a:fld>
            <a:endParaRPr lang="en-US"/>
          </a:p>
        </p:txBody>
      </p:sp>
    </p:spTree>
    <p:extLst>
      <p:ext uri="{BB962C8B-B14F-4D97-AF65-F5344CB8AC3E}">
        <p14:creationId xmlns:p14="http://schemas.microsoft.com/office/powerpoint/2010/main" val="425490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4D3D7A2-D191-47B2-954A-6B32FB59E2AA}" type="datetime1">
              <a:rPr lang="en-US" smtClean="0"/>
              <a:t>2/13/2026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DDC133B-56CF-4BD7-AF41-F9CFD64DD942}"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406315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52293" y="240024"/>
            <a:ext cx="9400022" cy="1237665"/>
          </a:xfrm>
        </p:spPr>
        <p:txBody>
          <a:bodyPr>
            <a:noAutofit/>
          </a:bodyPr>
          <a:lstStyle/>
          <a:p>
            <a:pPr algn="ctr"/>
            <a:r>
              <a:rPr lang="en-US" sz="2400" b="1" dirty="0">
                <a:latin typeface="Times New Roman" panose="02020603050405020304" pitchFamily="18" charset="0"/>
                <a:cs typeface="Times New Roman" panose="02020603050405020304" pitchFamily="18" charset="0"/>
              </a:rPr>
              <a:t>        Dr. N.G.P. INSTITUTE OF TECHNOLOGY</a:t>
            </a:r>
            <a:br>
              <a:rPr lang="en-US" sz="2400" b="1"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An Autonomous Institution)</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Approved by AICTE, New Delhi &amp; Affiliated to Anna University, Chennai.</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Recognized by UGC &amp; Accredited by NAAC with A+ and NBA [BME, CSE, ECE, EEE &amp; Mechanical]</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Coimbatore- 641 048</a:t>
            </a:r>
            <a:endParaRPr lang="en-US" sz="1600" dirty="0"/>
          </a:p>
        </p:txBody>
      </p:sp>
      <p:sp>
        <p:nvSpPr>
          <p:cNvPr id="4" name="Content Placeholder 3"/>
          <p:cNvSpPr>
            <a:spLocks noGrp="1"/>
          </p:cNvSpPr>
          <p:nvPr>
            <p:ph sz="half" idx="2"/>
          </p:nvPr>
        </p:nvSpPr>
        <p:spPr>
          <a:xfrm>
            <a:off x="949588" y="3724197"/>
            <a:ext cx="5054445" cy="2549301"/>
          </a:xfrm>
        </p:spPr>
        <p:txBody>
          <a:bodyPr>
            <a:normAutofit/>
          </a:bodyPr>
          <a:lstStyle/>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PRESENTED BY:</a:t>
            </a:r>
          </a:p>
          <a:p>
            <a:pPr marL="0" indent="0">
              <a:buNone/>
            </a:pPr>
            <a:r>
              <a:rPr lang="en-US" sz="2400" dirty="0">
                <a:latin typeface="Times New Roman" panose="02020603050405020304" pitchFamily="18" charset="0"/>
                <a:cs typeface="Times New Roman" panose="02020603050405020304" pitchFamily="18" charset="0"/>
              </a:rPr>
              <a:t>Adharsh B                  -710722104002</a:t>
            </a:r>
          </a:p>
          <a:p>
            <a:pPr marL="0" indent="0">
              <a:buNone/>
            </a:pPr>
            <a:r>
              <a:rPr lang="en-US" sz="2400" dirty="0">
                <a:latin typeface="Times New Roman" panose="02020603050405020304" pitchFamily="18" charset="0"/>
                <a:cs typeface="Times New Roman" panose="02020603050405020304" pitchFamily="18" charset="0"/>
              </a:rPr>
              <a:t>Chathurnan S             -710722104016</a:t>
            </a:r>
          </a:p>
          <a:p>
            <a:pPr marL="0" indent="0">
              <a:buNone/>
            </a:pPr>
            <a:r>
              <a:rPr lang="en-US" sz="2400" dirty="0">
                <a:latin typeface="Times New Roman" panose="02020603050405020304" pitchFamily="18" charset="0"/>
                <a:cs typeface="Times New Roman" panose="02020603050405020304" pitchFamily="18" charset="0"/>
              </a:rPr>
              <a:t>Lokeshwaran V          -710722104055</a:t>
            </a:r>
          </a:p>
        </p:txBody>
      </p:sp>
      <p:sp>
        <p:nvSpPr>
          <p:cNvPr id="6" name="Content Placeholder 5"/>
          <p:cNvSpPr>
            <a:spLocks noGrp="1"/>
          </p:cNvSpPr>
          <p:nvPr>
            <p:ph sz="quarter" idx="4"/>
          </p:nvPr>
        </p:nvSpPr>
        <p:spPr>
          <a:xfrm>
            <a:off x="6819792" y="4030431"/>
            <a:ext cx="4917170" cy="2308325"/>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PROJECT GUIDE: </a:t>
            </a:r>
          </a:p>
          <a:p>
            <a:pPr marL="0" indent="0">
              <a:buNone/>
            </a:pPr>
            <a:r>
              <a:rPr lang="en-US" sz="2400" dirty="0">
                <a:effectLst/>
                <a:latin typeface="Times New Roman" panose="02020603050405020304" pitchFamily="18" charset="0"/>
                <a:ea typeface="Times New Roman" panose="02020603050405020304" pitchFamily="18" charset="0"/>
              </a:rPr>
              <a:t>Yathavaraj V,</a:t>
            </a:r>
            <a:br>
              <a:rPr lang="en-US" sz="2400" dirty="0">
                <a:effectLst/>
                <a:latin typeface="Times New Roman" panose="02020603050405020304" pitchFamily="18" charset="0"/>
                <a:ea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Assistant Professor,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Department of Computer Science and Engineering,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Dr. N.G.P. Institute of Technology</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69547257-4285-492B-81DF-782057271B1C}" type="slidenum">
              <a:rPr lang="en-US" smtClean="0"/>
              <a:pPr/>
              <a:t>1</a:t>
            </a:fld>
            <a:endParaRPr lang="en-US" dirty="0"/>
          </a:p>
        </p:txBody>
      </p:sp>
      <p:sp>
        <p:nvSpPr>
          <p:cNvPr id="5" name="Rectangle 4"/>
          <p:cNvSpPr/>
          <p:nvPr/>
        </p:nvSpPr>
        <p:spPr>
          <a:xfrm>
            <a:off x="1408923" y="1890750"/>
            <a:ext cx="9573208" cy="1446550"/>
          </a:xfrm>
          <a:prstGeom prst="rect">
            <a:avLst/>
          </a:prstGeom>
        </p:spPr>
        <p:txBody>
          <a:bodyPr wrap="square">
            <a:spAutoFit/>
          </a:bodyPr>
          <a:lstStyle/>
          <a:p>
            <a:pPr algn="ctr"/>
            <a:r>
              <a:rPr lang="en-US" sz="2400" kern="0" dirty="0">
                <a:latin typeface="Times New Roman" panose="02020603050405020304" pitchFamily="18" charset="0"/>
                <a:ea typeface="Times New Roman" panose="02020603050405020304" pitchFamily="18" charset="0"/>
              </a:rPr>
              <a:t>DEPARTMENT OF COMPUTER SCIENCE &amp; ENGINEERING </a:t>
            </a:r>
          </a:p>
          <a:p>
            <a:pPr algn="ctr"/>
            <a:endParaRPr lang="en-US" sz="1600" b="1" dirty="0">
              <a:latin typeface="Times New Roman" panose="02020603050405020304" pitchFamily="18" charset="0"/>
              <a:cs typeface="Times New Roman" panose="02020603050405020304" pitchFamily="18" charset="0"/>
            </a:endParaRPr>
          </a:p>
          <a:p>
            <a:pPr algn="ctr">
              <a:buNone/>
            </a:pPr>
            <a:r>
              <a:rPr lang="en-US" sz="2400" b="1" kern="0">
                <a:effectLst/>
                <a:latin typeface="Times New Roman" panose="02020603050405020304" pitchFamily="18" charset="0"/>
                <a:ea typeface="Times New Roman" panose="02020603050405020304" pitchFamily="18" charset="0"/>
              </a:rPr>
              <a:t>FARMCONNECT: CROP RECOMMENDATION, GOVERNMENT SCHEME AND COMMUNITY SUPPORT</a:t>
            </a:r>
            <a:endParaRPr lang="en-IN" sz="1100" b="1" kern="0" dirty="0">
              <a:effectLst/>
              <a:latin typeface="Times New Roman" panose="02020603050405020304" pitchFamily="18" charset="0"/>
              <a:ea typeface="Times New Roman" panose="02020603050405020304" pitchFamily="18" charset="0"/>
            </a:endParaRPr>
          </a:p>
        </p:txBody>
      </p:sp>
      <p:pic>
        <p:nvPicPr>
          <p:cNvPr id="2" name="image1.png">
            <a:extLst>
              <a:ext uri="{FF2B5EF4-FFF2-40B4-BE49-F238E27FC236}">
                <a16:creationId xmlns:a16="http://schemas.microsoft.com/office/drawing/2014/main" id="{DF1071A6-832B-EF95-F120-11BA056589AB}"/>
              </a:ext>
            </a:extLst>
          </p:cNvPr>
          <p:cNvPicPr/>
          <p:nvPr/>
        </p:nvPicPr>
        <p:blipFill>
          <a:blip r:embed="rId2"/>
          <a:srcRect/>
          <a:stretch>
            <a:fillRect/>
          </a:stretch>
        </p:blipFill>
        <p:spPr>
          <a:xfrm>
            <a:off x="614148" y="240024"/>
            <a:ext cx="1091821" cy="1077210"/>
          </a:xfrm>
          <a:prstGeom prst="rect">
            <a:avLst/>
          </a:prstGeom>
          <a:ln/>
        </p:spPr>
      </p:pic>
      <p:pic>
        <p:nvPicPr>
          <p:cNvPr id="10" name="Picture 9">
            <a:extLst>
              <a:ext uri="{FF2B5EF4-FFF2-40B4-BE49-F238E27FC236}">
                <a16:creationId xmlns:a16="http://schemas.microsoft.com/office/drawing/2014/main" id="{5F2B3E52-76EC-25D8-9D7A-BF636C30BCAD}"/>
              </a:ext>
            </a:extLst>
          </p:cNvPr>
          <p:cNvPicPr>
            <a:picLocks noChangeAspect="1"/>
          </p:cNvPicPr>
          <p:nvPr/>
        </p:nvPicPr>
        <p:blipFill>
          <a:blip r:embed="rId3"/>
          <a:stretch>
            <a:fillRect/>
          </a:stretch>
        </p:blipFill>
        <p:spPr>
          <a:xfrm>
            <a:off x="10611371" y="240023"/>
            <a:ext cx="1091820" cy="1077211"/>
          </a:xfrm>
          <a:prstGeom prst="rect">
            <a:avLst/>
          </a:prstGeom>
        </p:spPr>
      </p:pic>
    </p:spTree>
    <p:extLst>
      <p:ext uri="{BB962C8B-B14F-4D97-AF65-F5344CB8AC3E}">
        <p14:creationId xmlns:p14="http://schemas.microsoft.com/office/powerpoint/2010/main" val="1554621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lgerian" panose="04020705040A02060702" pitchFamily="82" charset="0"/>
              </a:rPr>
              <a:t>Contents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cs typeface="Arial" panose="020B0604020202020204" pitchFamily="34" charset="0"/>
              </a:rPr>
              <a:t>Title, Abstract &amp; Goals	</a:t>
            </a:r>
          </a:p>
          <a:p>
            <a:pPr>
              <a:buFont typeface="Wingdings" panose="05000000000000000000" pitchFamily="2" charset="2"/>
              <a:buChar char="Ø"/>
            </a:pPr>
            <a:r>
              <a:rPr lang="en-US" dirty="0">
                <a:cs typeface="Arial" panose="020B0604020202020204" pitchFamily="34" charset="0"/>
              </a:rPr>
              <a:t>Hardware and Software Requirements</a:t>
            </a:r>
          </a:p>
          <a:p>
            <a:pPr>
              <a:buFont typeface="Wingdings" panose="05000000000000000000" pitchFamily="2" charset="2"/>
              <a:buChar char="Ø"/>
            </a:pPr>
            <a:r>
              <a:rPr lang="en-US" dirty="0">
                <a:cs typeface="Arial" panose="020B0604020202020204" pitchFamily="34" charset="0"/>
              </a:rPr>
              <a:t>Module Split Up </a:t>
            </a:r>
          </a:p>
          <a:p>
            <a:pPr>
              <a:buFont typeface="Wingdings" panose="05000000000000000000" pitchFamily="2" charset="2"/>
              <a:buChar char="Ø"/>
            </a:pPr>
            <a:r>
              <a:rPr lang="en-US" dirty="0">
                <a:cs typeface="Arial" panose="020B0604020202020204" pitchFamily="34" charset="0"/>
              </a:rPr>
              <a:t>Module Explanation </a:t>
            </a:r>
          </a:p>
          <a:p>
            <a:pPr>
              <a:buFont typeface="Wingdings" panose="05000000000000000000" pitchFamily="2" charset="2"/>
              <a:buChar char="Ø"/>
            </a:pPr>
            <a:r>
              <a:rPr lang="en-US" dirty="0">
                <a:cs typeface="Arial" panose="020B0604020202020204" pitchFamily="34" charset="0"/>
              </a:rPr>
              <a:t>Methodology Adopted</a:t>
            </a:r>
          </a:p>
          <a:p>
            <a:pPr>
              <a:buFont typeface="Wingdings" panose="05000000000000000000" pitchFamily="2" charset="2"/>
              <a:buChar char="Ø"/>
            </a:pPr>
            <a:r>
              <a:rPr lang="en-US" dirty="0">
                <a:cs typeface="Arial" panose="020B0604020202020204" pitchFamily="34" charset="0"/>
              </a:rPr>
              <a:t>100% Project Completion Results </a:t>
            </a:r>
          </a:p>
          <a:p>
            <a:pPr>
              <a:buFont typeface="Wingdings" panose="05000000000000000000" pitchFamily="2" charset="2"/>
              <a:buChar char="Ø"/>
            </a:pPr>
            <a:r>
              <a:rPr lang="en-US" dirty="0">
                <a:cs typeface="Arial" panose="020B0604020202020204" pitchFamily="34" charset="0"/>
              </a:rPr>
              <a:t>References</a:t>
            </a:r>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CDDC133B-56CF-4BD7-AF41-F9CFD64DD942}"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FFDAE-C972-3B6C-4C90-ACB13F15313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C0D30BF-3CEE-8625-C5C7-DA78C0728702}"/>
              </a:ext>
            </a:extLst>
          </p:cNvPr>
          <p:cNvSpPr>
            <a:spLocks noGrp="1"/>
          </p:cNvSpPr>
          <p:nvPr>
            <p:ph type="sldNum" sz="quarter" idx="12"/>
          </p:nvPr>
        </p:nvSpPr>
        <p:spPr/>
        <p:txBody>
          <a:bodyPr/>
          <a:lstStyle/>
          <a:p>
            <a:fld id="{CDDC133B-56CF-4BD7-AF41-F9CFD64DD942}" type="slidenum">
              <a:rPr lang="en-US" smtClean="0"/>
              <a:pPr/>
              <a:t>3</a:t>
            </a:fld>
            <a:endParaRPr lang="en-US"/>
          </a:p>
        </p:txBody>
      </p:sp>
      <p:sp>
        <p:nvSpPr>
          <p:cNvPr id="4" name="Title 1">
            <a:extLst>
              <a:ext uri="{FF2B5EF4-FFF2-40B4-BE49-F238E27FC236}">
                <a16:creationId xmlns:a16="http://schemas.microsoft.com/office/drawing/2014/main" id="{C08F1AEC-9360-A632-3F85-053CE9FB4DBE}"/>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abstract</a:t>
            </a:r>
          </a:p>
        </p:txBody>
      </p:sp>
      <p:cxnSp>
        <p:nvCxnSpPr>
          <p:cNvPr id="6" name="Straight Connector 5">
            <a:extLst>
              <a:ext uri="{FF2B5EF4-FFF2-40B4-BE49-F238E27FC236}">
                <a16:creationId xmlns:a16="http://schemas.microsoft.com/office/drawing/2014/main" id="{AF08999E-C32D-BDA1-4CA7-9A3885BD958B}"/>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02871B3E-2ECE-0F28-C1BF-F498D5834C3C}"/>
              </a:ext>
            </a:extLst>
          </p:cNvPr>
          <p:cNvSpPr txBox="1"/>
          <p:nvPr/>
        </p:nvSpPr>
        <p:spPr>
          <a:xfrm>
            <a:off x="1183333" y="1528103"/>
            <a:ext cx="9808127" cy="3416320"/>
          </a:xfrm>
          <a:prstGeom prst="rect">
            <a:avLst/>
          </a:prstGeom>
          <a:noFill/>
        </p:spPr>
        <p:txBody>
          <a:bodyPr wrap="square">
            <a:spAutoFit/>
          </a:bodyPr>
          <a:lstStyle/>
          <a:p>
            <a:pPr algn="just"/>
            <a:r>
              <a:rPr lang="en-IN" sz="2400" dirty="0">
                <a:latin typeface="Times New Roman" panose="02020603050405020304" pitchFamily="18" charset="0"/>
                <a:cs typeface="Times New Roman" panose="02020603050405020304" pitchFamily="18" charset="0"/>
              </a:rPr>
              <a:t>FarmConnect is an integrated online platform designed to address the challenges faced by small farmers, such as scattered information, lack of expert guidance, and complex government schemes. Using machine learning models for crop recommendations, government scheme matching, and community support, the system provides personalized advice, automated eligibility checks, and trusted peer answers through a unified dashboard. Early field results show improved farmer decision-making, increased scheme awareness, reduced consultant dependency, and overall support for data-driven, collaborative agriculture.</a:t>
            </a:r>
          </a:p>
        </p:txBody>
      </p:sp>
    </p:spTree>
    <p:extLst>
      <p:ext uri="{BB962C8B-B14F-4D97-AF65-F5344CB8AC3E}">
        <p14:creationId xmlns:p14="http://schemas.microsoft.com/office/powerpoint/2010/main" val="4177971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72DC-CDCA-3B7B-78AF-A632183AF61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8DE24F-FD70-30D6-835B-7E3FB8A38FE8}"/>
              </a:ext>
            </a:extLst>
          </p:cNvPr>
          <p:cNvSpPr>
            <a:spLocks noGrp="1"/>
          </p:cNvSpPr>
          <p:nvPr>
            <p:ph type="sldNum" sz="quarter" idx="12"/>
          </p:nvPr>
        </p:nvSpPr>
        <p:spPr/>
        <p:txBody>
          <a:bodyPr/>
          <a:lstStyle/>
          <a:p>
            <a:fld id="{CDDC133B-56CF-4BD7-AF41-F9CFD64DD942}" type="slidenum">
              <a:rPr lang="en-US" smtClean="0"/>
              <a:pPr/>
              <a:t>4</a:t>
            </a:fld>
            <a:endParaRPr lang="en-US"/>
          </a:p>
        </p:txBody>
      </p:sp>
      <p:sp>
        <p:nvSpPr>
          <p:cNvPr id="4" name="Title 1">
            <a:extLst>
              <a:ext uri="{FF2B5EF4-FFF2-40B4-BE49-F238E27FC236}">
                <a16:creationId xmlns:a16="http://schemas.microsoft.com/office/drawing/2014/main" id="{651A65EA-E17B-8191-5887-C459E0391A5E}"/>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Goals</a:t>
            </a:r>
          </a:p>
        </p:txBody>
      </p:sp>
      <p:cxnSp>
        <p:nvCxnSpPr>
          <p:cNvPr id="6" name="Straight Connector 5">
            <a:extLst>
              <a:ext uri="{FF2B5EF4-FFF2-40B4-BE49-F238E27FC236}">
                <a16:creationId xmlns:a16="http://schemas.microsoft.com/office/drawing/2014/main" id="{665F0118-C07F-ABE0-CE34-4E9C664B0013}"/>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graphicFrame>
        <p:nvGraphicFramePr>
          <p:cNvPr id="2" name="Diagram 1">
            <a:extLst>
              <a:ext uri="{FF2B5EF4-FFF2-40B4-BE49-F238E27FC236}">
                <a16:creationId xmlns:a16="http://schemas.microsoft.com/office/drawing/2014/main" id="{86330F22-6F66-A85F-9829-EBA5E1820853}"/>
              </a:ext>
            </a:extLst>
          </p:cNvPr>
          <p:cNvGraphicFramePr/>
          <p:nvPr>
            <p:extLst>
              <p:ext uri="{D42A27DB-BD31-4B8C-83A1-F6EECF244321}">
                <p14:modId xmlns:p14="http://schemas.microsoft.com/office/powerpoint/2010/main" val="574566063"/>
              </p:ext>
            </p:extLst>
          </p:nvPr>
        </p:nvGraphicFramePr>
        <p:xfrm>
          <a:off x="0" y="1110344"/>
          <a:ext cx="11877870" cy="50758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0239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C20E-A49D-4681-1BCD-80D59A805A8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EF34657-D16B-6C77-C48A-2CA8EDD7D1E6}"/>
              </a:ext>
            </a:extLst>
          </p:cNvPr>
          <p:cNvSpPr>
            <a:spLocks noGrp="1"/>
          </p:cNvSpPr>
          <p:nvPr>
            <p:ph type="sldNum" sz="quarter" idx="12"/>
          </p:nvPr>
        </p:nvSpPr>
        <p:spPr/>
        <p:txBody>
          <a:bodyPr/>
          <a:lstStyle/>
          <a:p>
            <a:fld id="{CDDC133B-56CF-4BD7-AF41-F9CFD64DD942}" type="slidenum">
              <a:rPr lang="en-US" smtClean="0"/>
              <a:pPr/>
              <a:t>5</a:t>
            </a:fld>
            <a:endParaRPr lang="en-US"/>
          </a:p>
        </p:txBody>
      </p:sp>
      <p:sp>
        <p:nvSpPr>
          <p:cNvPr id="4" name="Title 1">
            <a:extLst>
              <a:ext uri="{FF2B5EF4-FFF2-40B4-BE49-F238E27FC236}">
                <a16:creationId xmlns:a16="http://schemas.microsoft.com/office/drawing/2014/main" id="{4F1E4E90-C89E-01E1-52B0-7CC0A5638238}"/>
              </a:ext>
            </a:extLst>
          </p:cNvPr>
          <p:cNvSpPr txBox="1">
            <a:spLocks/>
          </p:cNvSpPr>
          <p:nvPr/>
        </p:nvSpPr>
        <p:spPr>
          <a:xfrm>
            <a:off x="1051560" y="223275"/>
            <a:ext cx="10088880" cy="1124084"/>
          </a:xfrm>
          <a:prstGeom prst="rect">
            <a:avLst/>
          </a:prstGeom>
        </p:spPr>
        <p:txBody>
          <a:bodyPr vert="horz" lIns="91440" tIns="45720" rIns="91440" bIns="45720" rtlCol="0" anchor="b">
            <a:normAutofit fontScale="925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Hardware and software requirement</a:t>
            </a:r>
          </a:p>
        </p:txBody>
      </p:sp>
      <p:cxnSp>
        <p:nvCxnSpPr>
          <p:cNvPr id="6" name="Straight Connector 5">
            <a:extLst>
              <a:ext uri="{FF2B5EF4-FFF2-40B4-BE49-F238E27FC236}">
                <a16:creationId xmlns:a16="http://schemas.microsoft.com/office/drawing/2014/main" id="{CF4C2D21-E10A-2C3F-9DA3-13851A300B4B}"/>
              </a:ext>
            </a:extLst>
          </p:cNvPr>
          <p:cNvCxnSpPr>
            <a:cxnSpLocks/>
          </p:cNvCxnSpPr>
          <p:nvPr/>
        </p:nvCxnSpPr>
        <p:spPr>
          <a:xfrm>
            <a:off x="1319719" y="1347359"/>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sp>
        <p:nvSpPr>
          <p:cNvPr id="8" name="Rectangle: Rounded Corners 7">
            <a:extLst>
              <a:ext uri="{FF2B5EF4-FFF2-40B4-BE49-F238E27FC236}">
                <a16:creationId xmlns:a16="http://schemas.microsoft.com/office/drawing/2014/main" id="{CDE71CF0-A582-921F-C9CC-D5E092368209}"/>
              </a:ext>
            </a:extLst>
          </p:cNvPr>
          <p:cNvSpPr/>
          <p:nvPr/>
        </p:nvSpPr>
        <p:spPr>
          <a:xfrm>
            <a:off x="1319719" y="1554945"/>
            <a:ext cx="4906985" cy="456593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IN" b="1" u="sng" dirty="0">
                <a:solidFill>
                  <a:schemeClr val="tx1"/>
                </a:solidFill>
                <a:latin typeface="Times New Roman" panose="02020603050405020304" pitchFamily="18" charset="0"/>
                <a:cs typeface="Times New Roman" panose="02020603050405020304" pitchFamily="18" charset="0"/>
              </a:rPr>
              <a:t>Software Requirements</a:t>
            </a:r>
          </a:p>
          <a:p>
            <a:pPr algn="ctr">
              <a:buNone/>
            </a:pPr>
            <a:r>
              <a:rPr lang="en-IN" b="1" u="sng" dirty="0">
                <a:solidFill>
                  <a:schemeClr val="tx1"/>
                </a:solidFill>
                <a:latin typeface="Times New Roman" panose="02020603050405020304" pitchFamily="18" charset="0"/>
                <a:cs typeface="Times New Roman" panose="02020603050405020304" pitchFamily="18" charset="0"/>
              </a:rPr>
              <a:t> </a:t>
            </a:r>
          </a:p>
          <a:p>
            <a:pPr>
              <a:buNone/>
            </a:pPr>
            <a:r>
              <a:rPr lang="en-IN" b="1" dirty="0">
                <a:solidFill>
                  <a:schemeClr val="tx1"/>
                </a:solidFill>
                <a:latin typeface="Times New Roman" panose="02020603050405020304" pitchFamily="18" charset="0"/>
                <a:cs typeface="Times New Roman" panose="02020603050405020304" pitchFamily="18" charset="0"/>
              </a:rPr>
              <a:t>Frontend:</a:t>
            </a:r>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React.js</a:t>
            </a:r>
            <a:r>
              <a:rPr lang="en-IN" dirty="0">
                <a:solidFill>
                  <a:schemeClr val="tx1"/>
                </a:solidFill>
                <a:latin typeface="Times New Roman" panose="02020603050405020304" pitchFamily="18" charset="0"/>
                <a:cs typeface="Times New Roman" panose="02020603050405020304" pitchFamily="18" charset="0"/>
              </a:rPr>
              <a:t> – For building responsive and modular UI components</a:t>
            </a:r>
          </a:p>
          <a:p>
            <a:pPr>
              <a:buFont typeface="Arial" panose="020B0604020202020204" pitchFamily="34" charset="0"/>
              <a:buChar char="•"/>
            </a:pPr>
            <a:r>
              <a:rPr lang="en-IN" b="1" dirty="0">
                <a:solidFill>
                  <a:schemeClr val="tx1"/>
                </a:solidFill>
                <a:latin typeface="Times New Roman" panose="02020603050405020304" pitchFamily="18" charset="0"/>
                <a:cs typeface="Times New Roman" panose="02020603050405020304" pitchFamily="18" charset="0"/>
              </a:rPr>
              <a:t>Tailwind CSS </a:t>
            </a:r>
            <a:r>
              <a:rPr lang="en-IN" dirty="0">
                <a:solidFill>
                  <a:schemeClr val="tx1"/>
                </a:solidFill>
                <a:latin typeface="Times New Roman" panose="02020603050405020304" pitchFamily="18" charset="0"/>
                <a:cs typeface="Times New Roman" panose="02020603050405020304" pitchFamily="18" charset="0"/>
              </a:rPr>
              <a:t> – For consistent, clean styling</a:t>
            </a:r>
          </a:p>
          <a:p>
            <a:pPr>
              <a:buFont typeface="Arial" panose="020B0604020202020204" pitchFamily="34" charset="0"/>
              <a:buChar char="•"/>
            </a:pPr>
            <a:r>
              <a:rPr lang="en-IN" b="1" dirty="0">
                <a:solidFill>
                  <a:schemeClr val="tx1"/>
                </a:solidFill>
                <a:latin typeface="Times New Roman" panose="02020603050405020304" pitchFamily="18" charset="0"/>
                <a:cs typeface="Times New Roman" panose="02020603050405020304" pitchFamily="18" charset="0"/>
              </a:rPr>
              <a:t>Fetch API</a:t>
            </a:r>
            <a:r>
              <a:rPr lang="en-IN" dirty="0">
                <a:solidFill>
                  <a:schemeClr val="tx1"/>
                </a:solidFill>
                <a:latin typeface="Times New Roman" panose="02020603050405020304" pitchFamily="18" charset="0"/>
                <a:cs typeface="Times New Roman" panose="02020603050405020304" pitchFamily="18" charset="0"/>
              </a:rPr>
              <a:t> – For communicating with backend APIs</a:t>
            </a:r>
          </a:p>
          <a:p>
            <a:endParaRPr lang="en-IN" dirty="0">
              <a:solidFill>
                <a:schemeClr val="tx1"/>
              </a:solidFill>
              <a:latin typeface="Times New Roman" panose="02020603050405020304" pitchFamily="18" charset="0"/>
              <a:cs typeface="Times New Roman" panose="02020603050405020304" pitchFamily="18" charset="0"/>
            </a:endParaRPr>
          </a:p>
          <a:p>
            <a:pPr>
              <a:buNone/>
            </a:pPr>
            <a:r>
              <a:rPr lang="en-IN" b="1" dirty="0">
                <a:solidFill>
                  <a:schemeClr val="tx1"/>
                </a:solidFill>
                <a:latin typeface="Times New Roman" panose="02020603050405020304" pitchFamily="18" charset="0"/>
                <a:cs typeface="Times New Roman" panose="02020603050405020304" pitchFamily="18" charset="0"/>
              </a:rPr>
              <a:t>Backend:</a:t>
            </a:r>
            <a:endParaRPr lang="en-IN"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b="1" dirty="0">
                <a:solidFill>
                  <a:schemeClr val="tx1"/>
                </a:solidFill>
                <a:latin typeface="Times New Roman" panose="02020603050405020304" pitchFamily="18" charset="0"/>
                <a:cs typeface="Times New Roman" panose="02020603050405020304" pitchFamily="18" charset="0"/>
              </a:rPr>
              <a:t>Node.js + Express.js</a:t>
            </a:r>
            <a:r>
              <a:rPr lang="en-IN" dirty="0">
                <a:solidFill>
                  <a:schemeClr val="tx1"/>
                </a:solidFill>
                <a:latin typeface="Times New Roman" panose="02020603050405020304" pitchFamily="18" charset="0"/>
                <a:cs typeface="Times New Roman" panose="02020603050405020304" pitchFamily="18" charset="0"/>
              </a:rPr>
              <a:t> – For API development</a:t>
            </a:r>
          </a:p>
          <a:p>
            <a:pPr>
              <a:buFont typeface="Arial" panose="020B0604020202020204" pitchFamily="34" charset="0"/>
              <a:buChar char="•"/>
            </a:pPr>
            <a:r>
              <a:rPr lang="en-IN" b="1" dirty="0">
                <a:solidFill>
                  <a:schemeClr val="tx1"/>
                </a:solidFill>
                <a:latin typeface="Times New Roman" panose="02020603050405020304" pitchFamily="18" charset="0"/>
                <a:cs typeface="Times New Roman" panose="02020603050405020304" pitchFamily="18" charset="0"/>
              </a:rPr>
              <a:t>MongoDB</a:t>
            </a:r>
            <a:r>
              <a:rPr lang="en-IN" dirty="0">
                <a:solidFill>
                  <a:schemeClr val="tx1"/>
                </a:solidFill>
                <a:latin typeface="Times New Roman" panose="02020603050405020304" pitchFamily="18" charset="0"/>
                <a:cs typeface="Times New Roman" panose="02020603050405020304" pitchFamily="18" charset="0"/>
              </a:rPr>
              <a:t>– For storing farmers information.</a:t>
            </a:r>
          </a:p>
          <a:p>
            <a:pPr>
              <a:buFont typeface="Arial" panose="020B0604020202020204" pitchFamily="34" charset="0"/>
              <a:buChar char="•"/>
            </a:pPr>
            <a:r>
              <a:rPr lang="en-IN" b="1" dirty="0">
                <a:solidFill>
                  <a:schemeClr val="tx1"/>
                </a:solidFill>
                <a:latin typeface="Times New Roman" panose="02020603050405020304" pitchFamily="18" charset="0"/>
                <a:cs typeface="Times New Roman" panose="02020603050405020304" pitchFamily="18" charset="0"/>
              </a:rPr>
              <a:t>Prediction</a:t>
            </a:r>
            <a:r>
              <a:rPr lang="en-IN" dirty="0">
                <a:solidFill>
                  <a:schemeClr val="tx1"/>
                </a:solidFill>
                <a:latin typeface="Times New Roman" panose="02020603050405020304" pitchFamily="18" charset="0"/>
                <a:cs typeface="Times New Roman" panose="02020603050405020304" pitchFamily="18" charset="0"/>
              </a:rPr>
              <a:t> – Python ml libraries</a:t>
            </a:r>
          </a:p>
          <a:p>
            <a:pPr algn="ctr"/>
            <a:endParaRPr lang="en-IN" dirty="0"/>
          </a:p>
        </p:txBody>
      </p:sp>
      <p:sp>
        <p:nvSpPr>
          <p:cNvPr id="9" name="Rectangle: Rounded Corners 8">
            <a:extLst>
              <a:ext uri="{FF2B5EF4-FFF2-40B4-BE49-F238E27FC236}">
                <a16:creationId xmlns:a16="http://schemas.microsoft.com/office/drawing/2014/main" id="{C54DB123-C7E9-6549-7516-F853A4A5E8B2}"/>
              </a:ext>
            </a:extLst>
          </p:cNvPr>
          <p:cNvSpPr/>
          <p:nvPr/>
        </p:nvSpPr>
        <p:spPr>
          <a:xfrm>
            <a:off x="7001676" y="2560828"/>
            <a:ext cx="3870605" cy="2228308"/>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IN" b="1" u="sng" dirty="0">
                <a:solidFill>
                  <a:schemeClr val="tx1"/>
                </a:solidFill>
                <a:latin typeface="Times New Roman" panose="02020603050405020304" pitchFamily="18" charset="0"/>
                <a:cs typeface="Times New Roman" panose="02020603050405020304" pitchFamily="18" charset="0"/>
              </a:rPr>
              <a:t>Hardware Requirements </a:t>
            </a:r>
          </a:p>
          <a:p>
            <a:pPr algn="ctr">
              <a:buNone/>
            </a:pPr>
            <a:endParaRPr lang="en-IN" b="1"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solidFill>
                  <a:schemeClr val="tx1"/>
                </a:solidFill>
                <a:latin typeface="Times New Roman" panose="02020603050405020304" pitchFamily="18" charset="0"/>
                <a:cs typeface="Times New Roman" panose="02020603050405020304" pitchFamily="18" charset="0"/>
              </a:rPr>
              <a:t>Server</a:t>
            </a:r>
          </a:p>
          <a:p>
            <a:pPr marL="285750" indent="-285750">
              <a:buFont typeface="Arial" panose="020B0604020202020204" pitchFamily="34" charset="0"/>
              <a:buChar char="•"/>
            </a:pPr>
            <a:r>
              <a:rPr lang="en-IN" b="1" dirty="0">
                <a:solidFill>
                  <a:schemeClr val="tx1"/>
                </a:solidFill>
                <a:latin typeface="Times New Roman" panose="02020603050405020304" pitchFamily="18" charset="0"/>
                <a:cs typeface="Times New Roman" panose="02020603050405020304" pitchFamily="18" charset="0"/>
              </a:rPr>
              <a:t>User System(Laptop / Mobile)</a:t>
            </a:r>
            <a:endParaRPr lang="en-US" b="1"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chemeClr val="tx1"/>
                </a:solidFill>
                <a:latin typeface="Times New Roman" panose="02020603050405020304" pitchFamily="18" charset="0"/>
                <a:cs typeface="Times New Roman" panose="02020603050405020304" pitchFamily="18" charset="0"/>
              </a:rPr>
              <a:t>Networking Equipment</a:t>
            </a:r>
            <a:br>
              <a:rPr lang="en-US" b="1" dirty="0">
                <a:solidFill>
                  <a:schemeClr val="tx1"/>
                </a:solidFill>
                <a:latin typeface="Times New Roman" panose="02020603050405020304" pitchFamily="18" charset="0"/>
                <a:cs typeface="Times New Roman" panose="02020603050405020304" pitchFamily="18" charset="0"/>
              </a:rPr>
            </a:b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415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F76BE-E189-58F7-1D91-BD55834C320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1690A9-2BBA-7123-EAF5-8EC5F08C4603}"/>
              </a:ext>
            </a:extLst>
          </p:cNvPr>
          <p:cNvSpPr>
            <a:spLocks noGrp="1"/>
          </p:cNvSpPr>
          <p:nvPr>
            <p:ph type="sldNum" sz="quarter" idx="12"/>
          </p:nvPr>
        </p:nvSpPr>
        <p:spPr/>
        <p:txBody>
          <a:bodyPr/>
          <a:lstStyle/>
          <a:p>
            <a:fld id="{CDDC133B-56CF-4BD7-AF41-F9CFD64DD942}" type="slidenum">
              <a:rPr lang="en-US" smtClean="0"/>
              <a:pPr/>
              <a:t>6</a:t>
            </a:fld>
            <a:endParaRPr lang="en-US"/>
          </a:p>
        </p:txBody>
      </p:sp>
      <p:sp>
        <p:nvSpPr>
          <p:cNvPr id="4" name="Title 1">
            <a:extLst>
              <a:ext uri="{FF2B5EF4-FFF2-40B4-BE49-F238E27FC236}">
                <a16:creationId xmlns:a16="http://schemas.microsoft.com/office/drawing/2014/main" id="{61BA08E7-8B7D-6750-0B06-420DCF66A7B7}"/>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Module split up</a:t>
            </a:r>
          </a:p>
        </p:txBody>
      </p:sp>
      <p:cxnSp>
        <p:nvCxnSpPr>
          <p:cNvPr id="6" name="Straight Connector 5">
            <a:extLst>
              <a:ext uri="{FF2B5EF4-FFF2-40B4-BE49-F238E27FC236}">
                <a16:creationId xmlns:a16="http://schemas.microsoft.com/office/drawing/2014/main" id="{5E5AD4E1-06FB-F7C1-2944-8FC297842705}"/>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sp>
        <p:nvSpPr>
          <p:cNvPr id="5" name="TextBox 4">
            <a:extLst>
              <a:ext uri="{FF2B5EF4-FFF2-40B4-BE49-F238E27FC236}">
                <a16:creationId xmlns:a16="http://schemas.microsoft.com/office/drawing/2014/main" id="{5091BFDB-B2F0-F52C-6456-068AFB2310AC}"/>
              </a:ext>
            </a:extLst>
          </p:cNvPr>
          <p:cNvSpPr txBox="1"/>
          <p:nvPr/>
        </p:nvSpPr>
        <p:spPr>
          <a:xfrm>
            <a:off x="2007297" y="1413063"/>
            <a:ext cx="8549173" cy="4339650"/>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Dashboard/User Interface:</a:t>
            </a:r>
          </a:p>
          <a:p>
            <a:pPr lvl="1"/>
            <a:r>
              <a:rPr lang="en-IN" sz="2000" dirty="0">
                <a:latin typeface="Times New Roman" panose="02020603050405020304" pitchFamily="18" charset="0"/>
                <a:cs typeface="Times New Roman" panose="02020603050405020304" pitchFamily="18" charset="0"/>
              </a:rPr>
              <a:t>Module Presents integrated insights, crop advice, scheme eligibility, and support resources in an easy-to-use dashboard.</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Crop Recommendation:</a:t>
            </a:r>
          </a:p>
          <a:p>
            <a:pPr lvl="1"/>
            <a:r>
              <a:rPr lang="en-US" sz="2000" dirty="0">
                <a:latin typeface="Times New Roman" panose="02020603050405020304" pitchFamily="18" charset="0"/>
                <a:cs typeface="Times New Roman" panose="02020603050405020304" pitchFamily="18" charset="0"/>
              </a:rPr>
              <a:t>Processes soil and weather inputs (N, P, K, Temperature, Humidity, pH, Rainfall) using trained ML classification model with feature scaling to recommend suitable crops</a:t>
            </a:r>
            <a:r>
              <a:rPr lang="en-IN" sz="2000" dirty="0">
                <a:latin typeface="Times New Roman" panose="02020603050405020304" pitchFamily="18" charset="0"/>
                <a:cs typeface="Times New Roman" panose="02020603050405020304" pitchFamily="18" charset="0"/>
              </a:rPr>
              <a:t>.</a:t>
            </a:r>
          </a:p>
          <a:p>
            <a:r>
              <a:rPr lang="en-IN" sz="2400" b="1" dirty="0">
                <a:latin typeface="Times New Roman" panose="02020603050405020304" pitchFamily="18" charset="0"/>
                <a:cs typeface="Times New Roman" panose="02020603050405020304" pitchFamily="18" charset="0"/>
              </a:rPr>
              <a:t>Government Scheme Matching:</a:t>
            </a:r>
          </a:p>
          <a:p>
            <a:pPr lvl="1"/>
            <a:r>
              <a:rPr lang="en-US" sz="2000" dirty="0">
                <a:latin typeface="Times New Roman" panose="02020603050405020304" pitchFamily="18" charset="0"/>
                <a:cs typeface="Times New Roman" panose="02020603050405020304" pitchFamily="18" charset="0"/>
              </a:rPr>
              <a:t>Matches farmer profile details (age, income, land holding, state, category, etc.) with scheme dataset to identify eligible government schemes.</a:t>
            </a:r>
          </a:p>
          <a:p>
            <a:r>
              <a:rPr lang="en-IN" sz="2400" b="1" dirty="0">
                <a:latin typeface="Times New Roman" panose="02020603050405020304" pitchFamily="18" charset="0"/>
                <a:cs typeface="Times New Roman" panose="02020603050405020304" pitchFamily="18" charset="0"/>
              </a:rPr>
              <a:t>Community Support: </a:t>
            </a:r>
          </a:p>
          <a:p>
            <a:pPr lvl="1"/>
            <a:r>
              <a:rPr lang="en-US" sz="2000" dirty="0">
                <a:latin typeface="Times New Roman" panose="02020603050405020304" pitchFamily="18" charset="0"/>
                <a:cs typeface="Times New Roman" panose="02020603050405020304" pitchFamily="18" charset="0"/>
              </a:rPr>
              <a:t>Farmers can post questions and answers, vote on responses, and build reputation. Expert-approved users improve answer reliability.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0943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6ABE6-4BF7-09FF-1B83-E9041F93A70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68BAA1B-52AF-8D6E-20F8-8A12FF70BB1E}"/>
              </a:ext>
            </a:extLst>
          </p:cNvPr>
          <p:cNvSpPr>
            <a:spLocks noGrp="1"/>
          </p:cNvSpPr>
          <p:nvPr>
            <p:ph type="sldNum" sz="quarter" idx="12"/>
          </p:nvPr>
        </p:nvSpPr>
        <p:spPr/>
        <p:txBody>
          <a:bodyPr/>
          <a:lstStyle/>
          <a:p>
            <a:fld id="{CDDC133B-56CF-4BD7-AF41-F9CFD64DD942}" type="slidenum">
              <a:rPr lang="en-US" smtClean="0"/>
              <a:pPr/>
              <a:t>7</a:t>
            </a:fld>
            <a:endParaRPr lang="en-US"/>
          </a:p>
        </p:txBody>
      </p:sp>
      <p:sp>
        <p:nvSpPr>
          <p:cNvPr id="4" name="Title 1">
            <a:extLst>
              <a:ext uri="{FF2B5EF4-FFF2-40B4-BE49-F238E27FC236}">
                <a16:creationId xmlns:a16="http://schemas.microsoft.com/office/drawing/2014/main" id="{BDA4E737-B654-FC79-F733-8F4F3FDCD084}"/>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METHODOLOGY</a:t>
            </a:r>
          </a:p>
        </p:txBody>
      </p:sp>
      <p:cxnSp>
        <p:nvCxnSpPr>
          <p:cNvPr id="6" name="Straight Connector 5">
            <a:extLst>
              <a:ext uri="{FF2B5EF4-FFF2-40B4-BE49-F238E27FC236}">
                <a16:creationId xmlns:a16="http://schemas.microsoft.com/office/drawing/2014/main" id="{CC3EEA2E-258C-91BA-2484-841855EBEC83}"/>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pic>
        <p:nvPicPr>
          <p:cNvPr id="7" name="Picture 6">
            <a:extLst>
              <a:ext uri="{FF2B5EF4-FFF2-40B4-BE49-F238E27FC236}">
                <a16:creationId xmlns:a16="http://schemas.microsoft.com/office/drawing/2014/main" id="{E73026AA-4BE8-02F7-7C58-705B2BC3865B}"/>
              </a:ext>
            </a:extLst>
          </p:cNvPr>
          <p:cNvPicPr>
            <a:picLocks noChangeAspect="1"/>
          </p:cNvPicPr>
          <p:nvPr/>
        </p:nvPicPr>
        <p:blipFill>
          <a:blip r:embed="rId2">
            <a:extLst>
              <a:ext uri="{28A0092B-C50C-407E-A947-70E740481C1C}">
                <a14:useLocalDpi xmlns:a14="http://schemas.microsoft.com/office/drawing/2010/main" val="0"/>
              </a:ext>
            </a:extLst>
          </a:blip>
          <a:srcRect t="21003" b="8338"/>
          <a:stretch>
            <a:fillRect/>
          </a:stretch>
        </p:blipFill>
        <p:spPr>
          <a:xfrm>
            <a:off x="508377" y="1300480"/>
            <a:ext cx="11175245" cy="4785360"/>
          </a:xfrm>
          <a:prstGeom prst="rect">
            <a:avLst/>
          </a:prstGeom>
        </p:spPr>
      </p:pic>
    </p:spTree>
    <p:extLst>
      <p:ext uri="{BB962C8B-B14F-4D97-AF65-F5344CB8AC3E}">
        <p14:creationId xmlns:p14="http://schemas.microsoft.com/office/powerpoint/2010/main" val="627556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C4306-E4E1-7D61-19FE-876E4EC8DC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D2F1B6C-B056-C3C7-A1DF-CF6C8C7B4D4D}"/>
              </a:ext>
            </a:extLst>
          </p:cNvPr>
          <p:cNvSpPr>
            <a:spLocks noGrp="1"/>
          </p:cNvSpPr>
          <p:nvPr>
            <p:ph type="sldNum" sz="quarter" idx="12"/>
          </p:nvPr>
        </p:nvSpPr>
        <p:spPr/>
        <p:txBody>
          <a:bodyPr/>
          <a:lstStyle/>
          <a:p>
            <a:fld id="{CDDC133B-56CF-4BD7-AF41-F9CFD64DD942}" type="slidenum">
              <a:rPr lang="en-US" smtClean="0"/>
              <a:pPr/>
              <a:t>8</a:t>
            </a:fld>
            <a:endParaRPr lang="en-US"/>
          </a:p>
        </p:txBody>
      </p:sp>
      <p:sp>
        <p:nvSpPr>
          <p:cNvPr id="4" name="Title 1">
            <a:extLst>
              <a:ext uri="{FF2B5EF4-FFF2-40B4-BE49-F238E27FC236}">
                <a16:creationId xmlns:a16="http://schemas.microsoft.com/office/drawing/2014/main" id="{923E1593-9744-44E2-4BFD-17DB2F1C2919}"/>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METHODOLOGY</a:t>
            </a:r>
          </a:p>
        </p:txBody>
      </p:sp>
      <p:cxnSp>
        <p:nvCxnSpPr>
          <p:cNvPr id="6" name="Straight Connector 5">
            <a:extLst>
              <a:ext uri="{FF2B5EF4-FFF2-40B4-BE49-F238E27FC236}">
                <a16:creationId xmlns:a16="http://schemas.microsoft.com/office/drawing/2014/main" id="{2E9A2244-0A7F-90BA-8DED-3241DC056A72}"/>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FEF5236B-5CC1-19C6-D5DD-01DEF58F4A77}"/>
              </a:ext>
            </a:extLst>
          </p:cNvPr>
          <p:cNvSpPr txBox="1"/>
          <p:nvPr/>
        </p:nvSpPr>
        <p:spPr>
          <a:xfrm>
            <a:off x="875922" y="1148149"/>
            <a:ext cx="10264518" cy="470898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Data Collection</a:t>
            </a:r>
          </a:p>
          <a:p>
            <a:pPr lvl="1"/>
            <a:r>
              <a:rPr lang="en-US" sz="2000" dirty="0">
                <a:latin typeface="Times New Roman" panose="02020603050405020304" pitchFamily="18" charset="0"/>
                <a:cs typeface="Times New Roman" panose="02020603050405020304" pitchFamily="18" charset="0"/>
              </a:rPr>
              <a:t>Farmer inputs (N, P, K, Temperature, Humidity, pH, Rainfall), user profile data (age, income, land holding, state, category), and weather API data.</a:t>
            </a:r>
          </a:p>
          <a:p>
            <a:r>
              <a:rPr lang="en-US" sz="2000" b="1" dirty="0">
                <a:latin typeface="Times New Roman" panose="02020603050405020304" pitchFamily="18" charset="0"/>
                <a:cs typeface="Times New Roman" panose="02020603050405020304" pitchFamily="18" charset="0"/>
              </a:rPr>
              <a:t>Data Preprocessing</a:t>
            </a:r>
          </a:p>
          <a:p>
            <a:pPr lvl="1"/>
            <a:r>
              <a:rPr lang="en-US" sz="2000" dirty="0">
                <a:latin typeface="Times New Roman" panose="02020603050405020304" pitchFamily="18" charset="0"/>
                <a:cs typeface="Times New Roman" panose="02020603050405020304" pitchFamily="18" charset="0"/>
              </a:rPr>
              <a:t>Duplicate removal, missing value handling, and feature scaling using </a:t>
            </a:r>
            <a:r>
              <a:rPr lang="en-US" sz="2000" b="1" dirty="0" err="1">
                <a:latin typeface="Times New Roman" panose="02020603050405020304" pitchFamily="18" charset="0"/>
                <a:cs typeface="Times New Roman" panose="02020603050405020304" pitchFamily="18" charset="0"/>
              </a:rPr>
              <a:t>StandardScaler</a:t>
            </a:r>
            <a:r>
              <a:rPr lang="en-US" sz="2000" dirty="0">
                <a:latin typeface="Times New Roman" panose="02020603050405020304" pitchFamily="18" charset="0"/>
                <a:cs typeface="Times New Roman" panose="02020603050405020304" pitchFamily="18" charset="0"/>
              </a:rPr>
              <a:t>.</a:t>
            </a:r>
          </a:p>
          <a:p>
            <a:r>
              <a:rPr lang="en-US" sz="2000" b="1" dirty="0">
                <a:latin typeface="Times New Roman" panose="02020603050405020304" pitchFamily="18" charset="0"/>
                <a:cs typeface="Times New Roman" panose="02020603050405020304" pitchFamily="18" charset="0"/>
              </a:rPr>
              <a:t>Machine Learning Model – Crop Recommendation</a:t>
            </a:r>
          </a:p>
          <a:p>
            <a:pPr lvl="1"/>
            <a:r>
              <a:rPr lang="en-US" sz="2000" dirty="0">
                <a:latin typeface="Times New Roman" panose="02020603050405020304" pitchFamily="18" charset="0"/>
                <a:cs typeface="Times New Roman" panose="02020603050405020304" pitchFamily="18" charset="0"/>
              </a:rPr>
              <a:t>Supervised classification model trained on historical crop dataset.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Scaled soil and weather parameters are used to predict suitable crops.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Accuracy ≈ 96%.</a:t>
            </a:r>
          </a:p>
          <a:p>
            <a:r>
              <a:rPr lang="en-US" sz="2000" b="1" dirty="0">
                <a:latin typeface="Times New Roman" panose="02020603050405020304" pitchFamily="18" charset="0"/>
                <a:cs typeface="Times New Roman" panose="02020603050405020304" pitchFamily="18" charset="0"/>
              </a:rPr>
              <a:t>Scheme Eligibility Matching</a:t>
            </a:r>
          </a:p>
          <a:p>
            <a:pPr lvl="1"/>
            <a:r>
              <a:rPr lang="en-US" sz="2000" dirty="0">
                <a:latin typeface="Times New Roman" panose="02020603050405020304" pitchFamily="18" charset="0"/>
                <a:cs typeface="Times New Roman" panose="02020603050405020304" pitchFamily="18" charset="0"/>
              </a:rPr>
              <a:t>Profile-based filtering using dataset rules (age, income, land, state, crop type, category, gender) to identify eligible schemes.</a:t>
            </a:r>
          </a:p>
          <a:p>
            <a:r>
              <a:rPr lang="en-US" sz="2000" b="1" dirty="0">
                <a:latin typeface="Times New Roman" panose="02020603050405020304" pitchFamily="18" charset="0"/>
                <a:cs typeface="Times New Roman" panose="02020603050405020304" pitchFamily="18" charset="0"/>
              </a:rPr>
              <a:t>Output Delivery</a:t>
            </a:r>
          </a:p>
          <a:p>
            <a:pPr lvl="1"/>
            <a:r>
              <a:rPr lang="en-US" sz="2000" dirty="0">
                <a:latin typeface="Times New Roman" panose="02020603050405020304" pitchFamily="18" charset="0"/>
                <a:cs typeface="Times New Roman" panose="02020603050405020304" pitchFamily="18" charset="0"/>
              </a:rPr>
              <a:t>Personalized crop recommendations and eligible schemes displayed through an integrated user dashboard with community support.</a:t>
            </a:r>
          </a:p>
        </p:txBody>
      </p:sp>
    </p:spTree>
    <p:extLst>
      <p:ext uri="{BB962C8B-B14F-4D97-AF65-F5344CB8AC3E}">
        <p14:creationId xmlns:p14="http://schemas.microsoft.com/office/powerpoint/2010/main" val="3220631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3FFB0-79B4-DB15-FEF8-890ED78EE1F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3C817EB-251F-4454-4288-F3A641FF9F15}"/>
              </a:ext>
            </a:extLst>
          </p:cNvPr>
          <p:cNvSpPr>
            <a:spLocks noGrp="1"/>
          </p:cNvSpPr>
          <p:nvPr>
            <p:ph type="sldNum" sz="quarter" idx="12"/>
          </p:nvPr>
        </p:nvSpPr>
        <p:spPr/>
        <p:txBody>
          <a:bodyPr/>
          <a:lstStyle/>
          <a:p>
            <a:fld id="{CDDC133B-56CF-4BD7-AF41-F9CFD64DD942}" type="slidenum">
              <a:rPr lang="en-US" smtClean="0"/>
              <a:pPr/>
              <a:t>9</a:t>
            </a:fld>
            <a:endParaRPr lang="en-US"/>
          </a:p>
        </p:txBody>
      </p:sp>
      <p:sp>
        <p:nvSpPr>
          <p:cNvPr id="4" name="Title 1">
            <a:extLst>
              <a:ext uri="{FF2B5EF4-FFF2-40B4-BE49-F238E27FC236}">
                <a16:creationId xmlns:a16="http://schemas.microsoft.com/office/drawing/2014/main" id="{51A28AA1-56D1-8224-4C2A-ED133C004767}"/>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Project completion RESULTS</a:t>
            </a:r>
          </a:p>
        </p:txBody>
      </p:sp>
      <p:cxnSp>
        <p:nvCxnSpPr>
          <p:cNvPr id="6" name="Straight Connector 5">
            <a:extLst>
              <a:ext uri="{FF2B5EF4-FFF2-40B4-BE49-F238E27FC236}">
                <a16:creationId xmlns:a16="http://schemas.microsoft.com/office/drawing/2014/main" id="{AB06C3FA-DCD7-C3E7-F7C2-719A522DCBB5}"/>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9CC65934-06E4-A2EE-F702-AC107D640F32}"/>
              </a:ext>
            </a:extLst>
          </p:cNvPr>
          <p:cNvSpPr txBox="1"/>
          <p:nvPr/>
        </p:nvSpPr>
        <p:spPr>
          <a:xfrm>
            <a:off x="5903843" y="1166842"/>
            <a:ext cx="5396947" cy="4401205"/>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Crop recommendation model achieved </a:t>
            </a:r>
            <a:r>
              <a:rPr lang="en-US" sz="2000" b="1" dirty="0">
                <a:latin typeface="Times New Roman" panose="02020603050405020304" pitchFamily="18" charset="0"/>
                <a:cs typeface="Times New Roman" panose="02020603050405020304" pitchFamily="18" charset="0"/>
              </a:rPr>
              <a:t>~96% </a:t>
            </a:r>
            <a:r>
              <a:rPr lang="en-US" sz="2000" dirty="0">
                <a:latin typeface="Times New Roman" panose="02020603050405020304" pitchFamily="18" charset="0"/>
                <a:cs typeface="Times New Roman" panose="02020603050405020304" pitchFamily="18" charset="0"/>
              </a:rPr>
              <a:t>overall accuracy using supervised classification on soil and weather parameters, demonstrating reliable and consistent prediction performance.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Government scheme eligibility module successfully filtered schemes based on farmer profile attributes, significantly reducing manual search effort and improving identification efficiency.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Community reputation system improved answer reliability through structured upvote/downvote validation and expert approval mechanism, enhancing trust and knowledge quality within the platform.</a:t>
            </a:r>
          </a:p>
        </p:txBody>
      </p:sp>
      <p:pic>
        <p:nvPicPr>
          <p:cNvPr id="8" name="Picture 7">
            <a:extLst>
              <a:ext uri="{FF2B5EF4-FFF2-40B4-BE49-F238E27FC236}">
                <a16:creationId xmlns:a16="http://schemas.microsoft.com/office/drawing/2014/main" id="{4763B30A-3C2B-E4B6-24FA-64A9CC6611CA}"/>
              </a:ext>
            </a:extLst>
          </p:cNvPr>
          <p:cNvPicPr>
            <a:picLocks noChangeAspect="1"/>
          </p:cNvPicPr>
          <p:nvPr/>
        </p:nvPicPr>
        <p:blipFill>
          <a:blip r:embed="rId2"/>
          <a:stretch>
            <a:fillRect/>
          </a:stretch>
        </p:blipFill>
        <p:spPr>
          <a:xfrm>
            <a:off x="816682" y="1332579"/>
            <a:ext cx="5087161" cy="4069729"/>
          </a:xfrm>
          <a:prstGeom prst="rect">
            <a:avLst/>
          </a:prstGeom>
        </p:spPr>
      </p:pic>
    </p:spTree>
    <p:extLst>
      <p:ext uri="{BB962C8B-B14F-4D97-AF65-F5344CB8AC3E}">
        <p14:creationId xmlns:p14="http://schemas.microsoft.com/office/powerpoint/2010/main" val="4042894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12B61-6D0F-3FA6-5BB4-2ADA6B6D88A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85D47D-CB71-5DE6-5265-1B38904C5422}"/>
              </a:ext>
            </a:extLst>
          </p:cNvPr>
          <p:cNvSpPr>
            <a:spLocks noGrp="1"/>
          </p:cNvSpPr>
          <p:nvPr>
            <p:ph type="sldNum" sz="quarter" idx="12"/>
          </p:nvPr>
        </p:nvSpPr>
        <p:spPr/>
        <p:txBody>
          <a:bodyPr/>
          <a:lstStyle/>
          <a:p>
            <a:fld id="{CDDC133B-56CF-4BD7-AF41-F9CFD64DD942}" type="slidenum">
              <a:rPr lang="en-US" smtClean="0"/>
              <a:pPr/>
              <a:t>10</a:t>
            </a:fld>
            <a:endParaRPr lang="en-US"/>
          </a:p>
        </p:txBody>
      </p:sp>
      <p:sp>
        <p:nvSpPr>
          <p:cNvPr id="4" name="Title 1">
            <a:extLst>
              <a:ext uri="{FF2B5EF4-FFF2-40B4-BE49-F238E27FC236}">
                <a16:creationId xmlns:a16="http://schemas.microsoft.com/office/drawing/2014/main" id="{BBC7473A-3596-3CD4-128A-9549883599FF}"/>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Project completion RESULTS</a:t>
            </a:r>
          </a:p>
        </p:txBody>
      </p:sp>
      <p:cxnSp>
        <p:nvCxnSpPr>
          <p:cNvPr id="6" name="Straight Connector 5">
            <a:extLst>
              <a:ext uri="{FF2B5EF4-FFF2-40B4-BE49-F238E27FC236}">
                <a16:creationId xmlns:a16="http://schemas.microsoft.com/office/drawing/2014/main" id="{BD0B8A1A-2228-69DE-183E-06BF0D4F7E56}"/>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pic>
        <p:nvPicPr>
          <p:cNvPr id="2" name="Picture 1">
            <a:extLst>
              <a:ext uri="{FF2B5EF4-FFF2-40B4-BE49-F238E27FC236}">
                <a16:creationId xmlns:a16="http://schemas.microsoft.com/office/drawing/2014/main" id="{4C6909E1-5EE9-FC47-1C0B-04BFCBB8570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19719" y="1337950"/>
            <a:ext cx="9433904" cy="4517924"/>
          </a:xfrm>
          <a:prstGeom prst="rect">
            <a:avLst/>
          </a:prstGeom>
        </p:spPr>
      </p:pic>
    </p:spTree>
    <p:extLst>
      <p:ext uri="{BB962C8B-B14F-4D97-AF65-F5344CB8AC3E}">
        <p14:creationId xmlns:p14="http://schemas.microsoft.com/office/powerpoint/2010/main" val="2307688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7BD99-5248-FED8-E126-CB152507C8B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50E120D-6879-3B04-DF11-A43605DC81BB}"/>
              </a:ext>
            </a:extLst>
          </p:cNvPr>
          <p:cNvSpPr>
            <a:spLocks noGrp="1"/>
          </p:cNvSpPr>
          <p:nvPr>
            <p:ph type="sldNum" sz="quarter" idx="12"/>
          </p:nvPr>
        </p:nvSpPr>
        <p:spPr/>
        <p:txBody>
          <a:bodyPr/>
          <a:lstStyle/>
          <a:p>
            <a:fld id="{CDDC133B-56CF-4BD7-AF41-F9CFD64DD942}" type="slidenum">
              <a:rPr lang="en-US" smtClean="0"/>
              <a:pPr/>
              <a:t>11</a:t>
            </a:fld>
            <a:endParaRPr lang="en-US"/>
          </a:p>
        </p:txBody>
      </p:sp>
      <p:sp>
        <p:nvSpPr>
          <p:cNvPr id="4" name="Title 1">
            <a:extLst>
              <a:ext uri="{FF2B5EF4-FFF2-40B4-BE49-F238E27FC236}">
                <a16:creationId xmlns:a16="http://schemas.microsoft.com/office/drawing/2014/main" id="{42424877-BE98-475F-4231-CA6F2C0F9B07}"/>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Project completion RESULTS</a:t>
            </a:r>
          </a:p>
        </p:txBody>
      </p:sp>
      <p:cxnSp>
        <p:nvCxnSpPr>
          <p:cNvPr id="6" name="Straight Connector 5">
            <a:extLst>
              <a:ext uri="{FF2B5EF4-FFF2-40B4-BE49-F238E27FC236}">
                <a16:creationId xmlns:a16="http://schemas.microsoft.com/office/drawing/2014/main" id="{7734712C-21CC-2867-E5D3-A0950601DECF}"/>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pic>
        <p:nvPicPr>
          <p:cNvPr id="9" name="Picture 8">
            <a:extLst>
              <a:ext uri="{FF2B5EF4-FFF2-40B4-BE49-F238E27FC236}">
                <a16:creationId xmlns:a16="http://schemas.microsoft.com/office/drawing/2014/main" id="{2B4DDB78-1911-0C97-99E0-AB649147C434}"/>
              </a:ext>
            </a:extLst>
          </p:cNvPr>
          <p:cNvPicPr>
            <a:picLocks noChangeAspect="1"/>
          </p:cNvPicPr>
          <p:nvPr/>
        </p:nvPicPr>
        <p:blipFill>
          <a:blip r:embed="rId2"/>
          <a:stretch>
            <a:fillRect/>
          </a:stretch>
        </p:blipFill>
        <p:spPr>
          <a:xfrm>
            <a:off x="768485" y="1173497"/>
            <a:ext cx="10243226" cy="4874100"/>
          </a:xfrm>
          <a:prstGeom prst="rect">
            <a:avLst/>
          </a:prstGeom>
        </p:spPr>
      </p:pic>
    </p:spTree>
    <p:extLst>
      <p:ext uri="{BB962C8B-B14F-4D97-AF65-F5344CB8AC3E}">
        <p14:creationId xmlns:p14="http://schemas.microsoft.com/office/powerpoint/2010/main" val="1772927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111AA-D8FE-99F3-FD43-B6884A437F5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1A83B1-E6D0-49D3-9F6B-33E127B060D1}"/>
              </a:ext>
            </a:extLst>
          </p:cNvPr>
          <p:cNvSpPr>
            <a:spLocks noGrp="1"/>
          </p:cNvSpPr>
          <p:nvPr>
            <p:ph type="sldNum" sz="quarter" idx="12"/>
          </p:nvPr>
        </p:nvSpPr>
        <p:spPr/>
        <p:txBody>
          <a:bodyPr/>
          <a:lstStyle/>
          <a:p>
            <a:fld id="{CDDC133B-56CF-4BD7-AF41-F9CFD64DD942}" type="slidenum">
              <a:rPr lang="en-US" smtClean="0"/>
              <a:pPr/>
              <a:t>12</a:t>
            </a:fld>
            <a:endParaRPr lang="en-US"/>
          </a:p>
        </p:txBody>
      </p:sp>
      <p:sp>
        <p:nvSpPr>
          <p:cNvPr id="4" name="Title 1">
            <a:extLst>
              <a:ext uri="{FF2B5EF4-FFF2-40B4-BE49-F238E27FC236}">
                <a16:creationId xmlns:a16="http://schemas.microsoft.com/office/drawing/2014/main" id="{BBF54636-4D30-F34F-052E-88F04B27DEF3}"/>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Project completion RESULTS</a:t>
            </a:r>
          </a:p>
        </p:txBody>
      </p:sp>
      <p:cxnSp>
        <p:nvCxnSpPr>
          <p:cNvPr id="6" name="Straight Connector 5">
            <a:extLst>
              <a:ext uri="{FF2B5EF4-FFF2-40B4-BE49-F238E27FC236}">
                <a16:creationId xmlns:a16="http://schemas.microsoft.com/office/drawing/2014/main" id="{9F04685C-8A17-68F7-EAFF-784FE3BA338F}"/>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pic>
        <p:nvPicPr>
          <p:cNvPr id="9" name="Picture 8">
            <a:extLst>
              <a:ext uri="{FF2B5EF4-FFF2-40B4-BE49-F238E27FC236}">
                <a16:creationId xmlns:a16="http://schemas.microsoft.com/office/drawing/2014/main" id="{78730ADB-C3EB-65EC-D2E0-F2F64637DC50}"/>
              </a:ext>
            </a:extLst>
          </p:cNvPr>
          <p:cNvPicPr>
            <a:picLocks noChangeAspect="1"/>
          </p:cNvPicPr>
          <p:nvPr/>
        </p:nvPicPr>
        <p:blipFill>
          <a:blip r:embed="rId2"/>
          <a:stretch>
            <a:fillRect/>
          </a:stretch>
        </p:blipFill>
        <p:spPr>
          <a:xfrm>
            <a:off x="612843" y="1163469"/>
            <a:ext cx="10088880" cy="4828592"/>
          </a:xfrm>
          <a:prstGeom prst="rect">
            <a:avLst/>
          </a:prstGeom>
        </p:spPr>
      </p:pic>
    </p:spTree>
    <p:extLst>
      <p:ext uri="{BB962C8B-B14F-4D97-AF65-F5344CB8AC3E}">
        <p14:creationId xmlns:p14="http://schemas.microsoft.com/office/powerpoint/2010/main" val="1790423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362D6-4415-9A37-6EA2-7A73BC13607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3DA556-02B8-9BFD-E78A-B9F707A5FFE5}"/>
              </a:ext>
            </a:extLst>
          </p:cNvPr>
          <p:cNvSpPr>
            <a:spLocks noGrp="1"/>
          </p:cNvSpPr>
          <p:nvPr>
            <p:ph type="sldNum" sz="quarter" idx="12"/>
          </p:nvPr>
        </p:nvSpPr>
        <p:spPr/>
        <p:txBody>
          <a:bodyPr/>
          <a:lstStyle/>
          <a:p>
            <a:fld id="{CDDC133B-56CF-4BD7-AF41-F9CFD64DD942}" type="slidenum">
              <a:rPr lang="en-US" smtClean="0"/>
              <a:pPr/>
              <a:t>13</a:t>
            </a:fld>
            <a:endParaRPr lang="en-US"/>
          </a:p>
        </p:txBody>
      </p:sp>
      <p:sp>
        <p:nvSpPr>
          <p:cNvPr id="4" name="Title 1">
            <a:extLst>
              <a:ext uri="{FF2B5EF4-FFF2-40B4-BE49-F238E27FC236}">
                <a16:creationId xmlns:a16="http://schemas.microsoft.com/office/drawing/2014/main" id="{7DA593FC-DA89-1B3B-EEAA-F4FED7E366CB}"/>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Project completion RESULTS</a:t>
            </a:r>
          </a:p>
        </p:txBody>
      </p:sp>
      <p:cxnSp>
        <p:nvCxnSpPr>
          <p:cNvPr id="6" name="Straight Connector 5">
            <a:extLst>
              <a:ext uri="{FF2B5EF4-FFF2-40B4-BE49-F238E27FC236}">
                <a16:creationId xmlns:a16="http://schemas.microsoft.com/office/drawing/2014/main" id="{BF4306F3-D063-0156-755A-BAD301830107}"/>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pic>
        <p:nvPicPr>
          <p:cNvPr id="5" name="Picture 4">
            <a:extLst>
              <a:ext uri="{FF2B5EF4-FFF2-40B4-BE49-F238E27FC236}">
                <a16:creationId xmlns:a16="http://schemas.microsoft.com/office/drawing/2014/main" id="{4F491576-9C11-0E8B-4A67-8B1E2ED79A73}"/>
              </a:ext>
            </a:extLst>
          </p:cNvPr>
          <p:cNvPicPr>
            <a:picLocks noChangeAspect="1"/>
          </p:cNvPicPr>
          <p:nvPr/>
        </p:nvPicPr>
        <p:blipFill>
          <a:blip r:embed="rId2"/>
          <a:stretch>
            <a:fillRect/>
          </a:stretch>
        </p:blipFill>
        <p:spPr>
          <a:xfrm>
            <a:off x="940075" y="1176572"/>
            <a:ext cx="10515600" cy="4953122"/>
          </a:xfrm>
          <a:prstGeom prst="rect">
            <a:avLst/>
          </a:prstGeom>
        </p:spPr>
      </p:pic>
    </p:spTree>
    <p:extLst>
      <p:ext uri="{BB962C8B-B14F-4D97-AF65-F5344CB8AC3E}">
        <p14:creationId xmlns:p14="http://schemas.microsoft.com/office/powerpoint/2010/main" val="4257441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B05D6-8762-AF41-DD0B-6CA9DCA026B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DA6B24-12CC-5B18-D3B9-6040FC44F1A7}"/>
              </a:ext>
            </a:extLst>
          </p:cNvPr>
          <p:cNvSpPr>
            <a:spLocks noGrp="1"/>
          </p:cNvSpPr>
          <p:nvPr>
            <p:ph type="sldNum" sz="quarter" idx="12"/>
          </p:nvPr>
        </p:nvSpPr>
        <p:spPr/>
        <p:txBody>
          <a:bodyPr/>
          <a:lstStyle/>
          <a:p>
            <a:fld id="{CDDC133B-56CF-4BD7-AF41-F9CFD64DD942}" type="slidenum">
              <a:rPr lang="en-US" smtClean="0"/>
              <a:pPr/>
              <a:t>14</a:t>
            </a:fld>
            <a:endParaRPr lang="en-US"/>
          </a:p>
        </p:txBody>
      </p:sp>
      <p:sp>
        <p:nvSpPr>
          <p:cNvPr id="4" name="Title 1">
            <a:extLst>
              <a:ext uri="{FF2B5EF4-FFF2-40B4-BE49-F238E27FC236}">
                <a16:creationId xmlns:a16="http://schemas.microsoft.com/office/drawing/2014/main" id="{D0041490-2F6E-5D7D-1A20-2B13057580FE}"/>
              </a:ext>
            </a:extLst>
          </p:cNvPr>
          <p:cNvSpPr txBox="1">
            <a:spLocks/>
          </p:cNvSpPr>
          <p:nvPr/>
        </p:nvSpPr>
        <p:spPr>
          <a:xfrm>
            <a:off x="1051560" y="-121958"/>
            <a:ext cx="10088880" cy="112408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b="1" dirty="0">
                <a:latin typeface="Algerian" panose="04020705040A02060702" pitchFamily="82" charset="0"/>
              </a:rPr>
              <a:t>REFERENCES</a:t>
            </a:r>
          </a:p>
        </p:txBody>
      </p:sp>
      <p:cxnSp>
        <p:nvCxnSpPr>
          <p:cNvPr id="6" name="Straight Connector 5">
            <a:extLst>
              <a:ext uri="{FF2B5EF4-FFF2-40B4-BE49-F238E27FC236}">
                <a16:creationId xmlns:a16="http://schemas.microsoft.com/office/drawing/2014/main" id="{304C30E4-E811-BC22-91E4-B6599385D030}"/>
              </a:ext>
            </a:extLst>
          </p:cNvPr>
          <p:cNvCxnSpPr>
            <a:cxnSpLocks/>
          </p:cNvCxnSpPr>
          <p:nvPr/>
        </p:nvCxnSpPr>
        <p:spPr>
          <a:xfrm>
            <a:off x="1319719" y="1002126"/>
            <a:ext cx="9552562" cy="0"/>
          </a:xfrm>
          <a:prstGeom prst="line">
            <a:avLst/>
          </a:prstGeom>
          <a:ln>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5C16D84C-962D-ECCB-DC36-8ADA92C14632}"/>
              </a:ext>
            </a:extLst>
          </p:cNvPr>
          <p:cNvSpPr txBox="1"/>
          <p:nvPr/>
        </p:nvSpPr>
        <p:spPr>
          <a:xfrm>
            <a:off x="1432790" y="1421508"/>
            <a:ext cx="9123680" cy="3785652"/>
          </a:xfrm>
          <a:prstGeom prst="rect">
            <a:avLst/>
          </a:prstGeom>
          <a:noFill/>
        </p:spPr>
        <p:txBody>
          <a:bodyPr wrap="square">
            <a:spAutoFit/>
          </a:bodyPr>
          <a:lstStyle/>
          <a:p>
            <a:pPr marL="800100" lvl="1" indent="-342900" algn="just">
              <a:buBlip>
                <a:blip r:embed="rId2">
                  <a:extLst>
                    <a:ext uri="{96DAC541-7B7A-43D3-8B79-37D633B846F1}">
                      <asvg:svgBlip xmlns:asvg="http://schemas.microsoft.com/office/drawing/2016/SVG/main" r:embed="rId3"/>
                    </a:ext>
                  </a:extLst>
                </a:blip>
              </a:buBlip>
            </a:pPr>
            <a:r>
              <a:rPr lang="en-US" sz="2400" dirty="0">
                <a:latin typeface="Times New Roman" panose="02020603050405020304" pitchFamily="18" charset="0"/>
                <a:cs typeface="Times New Roman" panose="02020603050405020304" pitchFamily="18" charset="0"/>
              </a:rPr>
              <a:t>Rao et al., 2025: ML-based classification of farmer land data for scheme eligibility (RAIT Conference).</a:t>
            </a:r>
          </a:p>
          <a:p>
            <a:pPr marL="800100" lvl="1" indent="-342900" algn="just">
              <a:buBlip>
                <a:blip r:embed="rId2">
                  <a:extLst>
                    <a:ext uri="{96DAC541-7B7A-43D3-8B79-37D633B846F1}">
                      <asvg:svgBlip xmlns:asvg="http://schemas.microsoft.com/office/drawing/2016/SVG/main" r:embed="rId3"/>
                    </a:ext>
                  </a:extLst>
                </a:blip>
              </a:buBlip>
            </a:pPr>
            <a:r>
              <a:rPr lang="en-US" sz="2400" dirty="0">
                <a:latin typeface="Times New Roman" panose="02020603050405020304" pitchFamily="18" charset="0"/>
                <a:cs typeface="Times New Roman" panose="02020603050405020304" pitchFamily="18" charset="0"/>
              </a:rPr>
              <a:t>Raju et al., 2024: AI-powered crop suggestion, yield prediction, and soil health monitoring (ICACRS Conference).</a:t>
            </a:r>
          </a:p>
          <a:p>
            <a:pPr marL="800100" lvl="1" indent="-342900" algn="just">
              <a:buBlip>
                <a:blip r:embed="rId2">
                  <a:extLst>
                    <a:ext uri="{96DAC541-7B7A-43D3-8B79-37D633B846F1}">
                      <asvg:svgBlip xmlns:asvg="http://schemas.microsoft.com/office/drawing/2016/SVG/main" r:embed="rId3"/>
                    </a:ext>
                  </a:extLst>
                </a:blip>
              </a:buBlip>
            </a:pPr>
            <a:r>
              <a:rPr lang="en-US" sz="2400" dirty="0" err="1">
                <a:latin typeface="Times New Roman" panose="02020603050405020304" pitchFamily="18" charset="0"/>
                <a:cs typeface="Times New Roman" panose="02020603050405020304" pitchFamily="18" charset="0"/>
              </a:rPr>
              <a:t>Apat</a:t>
            </a:r>
            <a:r>
              <a:rPr lang="en-US" sz="2400" dirty="0">
                <a:latin typeface="Times New Roman" panose="02020603050405020304" pitchFamily="18" charset="0"/>
                <a:cs typeface="Times New Roman" panose="02020603050405020304" pitchFamily="18" charset="0"/>
              </a:rPr>
              <a:t> et al., 2023: Machine learning algorithms for precision crop recommendation (JSIR Journal).</a:t>
            </a:r>
          </a:p>
          <a:p>
            <a:pPr marL="800100" lvl="1" indent="-342900" algn="just">
              <a:buBlip>
                <a:blip r:embed="rId2">
                  <a:extLst>
                    <a:ext uri="{96DAC541-7B7A-43D3-8B79-37D633B846F1}">
                      <asvg:svgBlip xmlns:asvg="http://schemas.microsoft.com/office/drawing/2016/SVG/main" r:embed="rId3"/>
                    </a:ext>
                  </a:extLst>
                </a:blip>
              </a:buBlip>
            </a:pPr>
            <a:r>
              <a:rPr lang="en-US" sz="2400" dirty="0">
                <a:latin typeface="Times New Roman" panose="02020603050405020304" pitchFamily="18" charset="0"/>
                <a:cs typeface="Times New Roman" panose="02020603050405020304" pitchFamily="18" charset="0"/>
              </a:rPr>
              <a:t>Sharafat et al., 2025: IoT-enabled, AI system for real-time crop prediction using soil/weather analytics (Smart Agric. Tech.).</a:t>
            </a:r>
          </a:p>
          <a:p>
            <a:pPr marL="800100" lvl="1" indent="-342900" algn="just">
              <a:buBlip>
                <a:blip r:embed="rId2">
                  <a:extLst>
                    <a:ext uri="{96DAC541-7B7A-43D3-8B79-37D633B846F1}">
                      <asvg:svgBlip xmlns:asvg="http://schemas.microsoft.com/office/drawing/2016/SVG/main" r:embed="rId3"/>
                    </a:ext>
                  </a:extLst>
                </a:blip>
              </a:buBlip>
            </a:pPr>
            <a:r>
              <a:rPr lang="en-US" sz="2400" dirty="0" err="1">
                <a:latin typeface="Times New Roman" panose="02020603050405020304" pitchFamily="18" charset="0"/>
                <a:cs typeface="Times New Roman" panose="02020603050405020304" pitchFamily="18" charset="0"/>
              </a:rPr>
              <a:t>Sauvagerd</a:t>
            </a:r>
            <a:r>
              <a:rPr lang="en-US" sz="2400" dirty="0">
                <a:latin typeface="Times New Roman" panose="02020603050405020304" pitchFamily="18" charset="0"/>
                <a:cs typeface="Times New Roman" panose="02020603050405020304" pitchFamily="18" charset="0"/>
              </a:rPr>
              <a:t> et al., 2024: Digital platforms and farmer dependency in agriculture (Big Data Society).</a:t>
            </a:r>
          </a:p>
        </p:txBody>
      </p:sp>
    </p:spTree>
    <p:extLst>
      <p:ext uri="{BB962C8B-B14F-4D97-AF65-F5344CB8AC3E}">
        <p14:creationId xmlns:p14="http://schemas.microsoft.com/office/powerpoint/2010/main" val="3638459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3E93FB-508E-E07E-955B-95068C018B78}"/>
              </a:ext>
            </a:extLst>
          </p:cNvPr>
          <p:cNvSpPr>
            <a:spLocks noGrp="1"/>
          </p:cNvSpPr>
          <p:nvPr>
            <p:ph type="sldNum" sz="quarter" idx="12"/>
          </p:nvPr>
        </p:nvSpPr>
        <p:spPr/>
        <p:txBody>
          <a:bodyPr/>
          <a:lstStyle/>
          <a:p>
            <a:fld id="{CDDC133B-56CF-4BD7-AF41-F9CFD64DD942}" type="slidenum">
              <a:rPr lang="en-US" smtClean="0"/>
              <a:pPr/>
              <a:t>15</a:t>
            </a:fld>
            <a:endParaRPr lang="en-US"/>
          </a:p>
        </p:txBody>
      </p:sp>
      <p:pic>
        <p:nvPicPr>
          <p:cNvPr id="1026" name="Picture 2">
            <a:extLst>
              <a:ext uri="{FF2B5EF4-FFF2-40B4-BE49-F238E27FC236}">
                <a16:creationId xmlns:a16="http://schemas.microsoft.com/office/drawing/2014/main" id="{95E29AC5-3D67-4872-FA75-7C3240761E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964"/>
            <a:ext cx="12192000" cy="5004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66229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1898</TotalTime>
  <Words>829</Words>
  <Application>Microsoft Office PowerPoint</Application>
  <PresentationFormat>Widescreen</PresentationFormat>
  <Paragraphs>94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Algerian</vt:lpstr>
      <vt:lpstr>Arial</vt:lpstr>
      <vt:lpstr>Calibri</vt:lpstr>
      <vt:lpstr>Calibri Light</vt:lpstr>
      <vt:lpstr>Times New Roman</vt:lpstr>
      <vt:lpstr>Wingdings</vt:lpstr>
      <vt:lpstr>Retrospect</vt:lpstr>
      <vt:lpstr>        Dr. N.G.P. INSTITUTE OF TECHNOLOGY (An Autonomous Institution)               Approved by AICTE, New Delhi &amp; Affiliated to Anna University, Chennai.        Recognized by UGC &amp; Accredited by NAAC with A+ and NBA [BME, CSE, ECE, EEE &amp; Mechanical] Coimbatore- 641 048</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Lokeshwaran v</cp:lastModifiedBy>
  <cp:revision>15</cp:revision>
  <dcterms:created xsi:type="dcterms:W3CDTF">2025-09-18T07:23:22Z</dcterms:created>
  <dcterms:modified xsi:type="dcterms:W3CDTF">2026-02-13T12:58:10Z</dcterms:modified>
</cp:coreProperties>
</file>